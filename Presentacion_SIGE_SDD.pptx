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8A3D"/>
                </a:solidFill>
                <a:latin typeface="Consolas"/>
              </a:rPr>
              <a:t>PROYECTO DE CURSO · SPEC-DRIVEN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40280"/>
            <a:ext cx="108813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0" b="1">
                <a:solidFill>
                  <a:srgbClr val="E8ECF4"/>
                </a:solidFill>
                <a:latin typeface="Arial Black"/>
              </a:rPr>
              <a:t>SIGE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7947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8B96B3"/>
                </a:solidFill>
                <a:latin typeface="Calibri"/>
              </a:rPr>
              <a:t>Sistema Integral de Gestión de Emergencias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343400"/>
            <a:ext cx="8686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8B96B3"/>
                </a:solidFill>
                <a:latin typeface="Calibri"/>
              </a:rPr>
              <a:t>Una plataforma nacional de despacho y monitoreo de emergencias — construida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8B96B3"/>
                </a:solidFill>
                <a:latin typeface="Calibri"/>
              </a:rPr>
              <a:t>especificando cada decisión antes de escribir una sola línea de código.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1264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B96B3"/>
                </a:solidFill>
                <a:latin typeface="Consolas"/>
              </a:rPr>
              <a:t>Diego Sotomayor · presentación de 8–10 minutos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8A3D"/>
                </a:solidFill>
                <a:latin typeface="Consolas"/>
              </a:rPr>
              <a:t>EL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8ECF4"/>
                </a:solidFill>
                <a:latin typeface="Arial Black"/>
              </a:rPr>
              <a:t>Coordinar una emergencia es, ante todo,</a:t>
            </a:r>
          </a:p>
          <a:p>
            <a:pPr algn="l">
              <a:lnSpc>
                <a:spcPct val="115000"/>
              </a:lnSpc>
            </a:pPr>
            <a:r>
              <a:rPr sz="3200" b="1">
                <a:solidFill>
                  <a:srgbClr val="E8ECF4"/>
                </a:solidFill>
                <a:latin typeface="Arial Black"/>
              </a:rPr>
              <a:t>un problema de información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3429000" cy="2011680"/>
          </a:xfrm>
          <a:prstGeom prst="roundRect">
            <a:avLst>
              <a:gd name="adj" fmla="val 6000"/>
            </a:avLst>
          </a:prstGeom>
          <a:solidFill>
            <a:srgbClr val="121A2B"/>
          </a:solidFill>
          <a:ln w="12700">
            <a:solidFill>
              <a:srgbClr val="26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46304" bIns="146304"/>
          <a:lstStyle/>
          <a:p>
            <a:pPr algn="ctr"/>
            <a:r>
              <a:rPr sz="1600" b="1">
                <a:solidFill>
                  <a:srgbClr val="E8ECF4"/>
                </a:solidFill>
                <a:latin typeface="Calibri"/>
              </a:rPr>
              <a:t>Sin visibilidad compartida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sz="1300">
                <a:solidFill>
                  <a:srgbClr val="8B96B3"/>
                </a:solidFill>
                <a:latin typeface="Calibri"/>
              </a:rPr>
              <a:t>Ambulancias, bomberos y patrulleros operan sin saber qué está haciendo el resto.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2834640"/>
            <a:ext cx="3429000" cy="2011680"/>
          </a:xfrm>
          <a:prstGeom prst="roundRect">
            <a:avLst>
              <a:gd name="adj" fmla="val 6000"/>
            </a:avLst>
          </a:prstGeom>
          <a:solidFill>
            <a:srgbClr val="121A2B"/>
          </a:solidFill>
          <a:ln w="12700">
            <a:solidFill>
              <a:srgbClr val="26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46304" bIns="146304"/>
          <a:lstStyle/>
          <a:p>
            <a:pPr algn="ctr"/>
            <a:r>
              <a:rPr sz="1600" b="1">
                <a:solidFill>
                  <a:srgbClr val="E8ECF4"/>
                </a:solidFill>
                <a:latin typeface="Calibri"/>
              </a:rPr>
              <a:t>Decisiones sin datos en vivo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sz="1300">
                <a:solidFill>
                  <a:srgbClr val="8B96B3"/>
                </a:solidFill>
                <a:latin typeface="Calibri"/>
              </a:rPr>
              <a:t>Se despacha una unidad sin confirmar si en ese momento sigue disponible.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2834640"/>
            <a:ext cx="3429000" cy="2011680"/>
          </a:xfrm>
          <a:prstGeom prst="roundRect">
            <a:avLst>
              <a:gd name="adj" fmla="val 6000"/>
            </a:avLst>
          </a:prstGeom>
          <a:solidFill>
            <a:srgbClr val="121A2B"/>
          </a:solidFill>
          <a:ln w="12700">
            <a:solidFill>
              <a:srgbClr val="26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46304" bIns="146304"/>
          <a:lstStyle/>
          <a:p>
            <a:pPr algn="ctr"/>
            <a:r>
              <a:rPr sz="1600" b="1">
                <a:solidFill>
                  <a:srgbClr val="E8ECF4"/>
                </a:solidFill>
                <a:latin typeface="Calibri"/>
              </a:rPr>
              <a:t>Cero trazabilidad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sz="1300">
                <a:solidFill>
                  <a:srgbClr val="8B96B3"/>
                </a:solidFill>
                <a:latin typeface="Calibri"/>
              </a:rPr>
              <a:t>Nadie puede reconstruir quién decidió qué, ni cuándo, una vez cerrado el caso.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8A3D"/>
                </a:solidFill>
                <a:latin typeface="Consolas"/>
              </a:rPr>
              <a:t>LA SOLUCIÓN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8ECF4"/>
                </a:solidFill>
                <a:latin typeface="Arial Black"/>
              </a:rPr>
              <a:t>Un centro de operaciones digital,</a:t>
            </a:r>
          </a:p>
          <a:p>
            <a:pPr algn="l">
              <a:lnSpc>
                <a:spcPct val="115000"/>
              </a:lnSpc>
            </a:pPr>
            <a:r>
              <a:rPr sz="3200" b="1">
                <a:solidFill>
                  <a:srgbClr val="E8ECF4"/>
                </a:solidFill>
                <a:latin typeface="Arial Black"/>
              </a:rPr>
              <a:t>de extremo a extremo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788920"/>
            <a:ext cx="5166360" cy="1417320"/>
          </a:xfrm>
          <a:prstGeom prst="roundRect">
            <a:avLst>
              <a:gd name="adj" fmla="val 6000"/>
            </a:avLst>
          </a:prstGeom>
          <a:solidFill>
            <a:srgbClr val="121A2B"/>
          </a:solidFill>
          <a:ln w="12700">
            <a:solidFill>
              <a:srgbClr val="26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46304" bIns="146304"/>
          <a:lstStyle/>
          <a:p>
            <a:pPr algn="ctr"/>
            <a:r>
              <a:rPr sz="1600" b="1">
                <a:solidFill>
                  <a:srgbClr val="E8ECF4"/>
                </a:solidFill>
                <a:latin typeface="Calibri"/>
              </a:rPr>
              <a:t>Registrar y priorizar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sz="1300">
                <a:solidFill>
                  <a:srgbClr val="8B96B3"/>
                </a:solidFill>
                <a:latin typeface="Calibri"/>
              </a:rPr>
              <a:t>Toda emergencia queda geolocalizada, tipificada y con prioridad desde el primer reporte.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80760" y="2788920"/>
            <a:ext cx="5166360" cy="1417320"/>
          </a:xfrm>
          <a:prstGeom prst="roundRect">
            <a:avLst>
              <a:gd name="adj" fmla="val 6000"/>
            </a:avLst>
          </a:prstGeom>
          <a:solidFill>
            <a:srgbClr val="121A2B"/>
          </a:solidFill>
          <a:ln w="12700">
            <a:solidFill>
              <a:srgbClr val="26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46304" bIns="146304"/>
          <a:lstStyle/>
          <a:p>
            <a:pPr algn="ctr"/>
            <a:r>
              <a:rPr sz="1600" b="1">
                <a:solidFill>
                  <a:srgbClr val="E8ECF4"/>
                </a:solidFill>
                <a:latin typeface="Calibri"/>
              </a:rPr>
              <a:t>Ver el mapa en vivo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sz="1300">
                <a:solidFill>
                  <a:srgbClr val="8B96B3"/>
                </a:solidFill>
                <a:latin typeface="Calibri"/>
              </a:rPr>
              <a:t>Emergencias y unidades sobre un mapa operativo, con capas, filtros e iconografía por tipo.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434840"/>
            <a:ext cx="5166360" cy="1417320"/>
          </a:xfrm>
          <a:prstGeom prst="roundRect">
            <a:avLst>
              <a:gd name="adj" fmla="val 6000"/>
            </a:avLst>
          </a:prstGeom>
          <a:solidFill>
            <a:srgbClr val="121A2B"/>
          </a:solidFill>
          <a:ln w="12700">
            <a:solidFill>
              <a:srgbClr val="26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46304" bIns="146304"/>
          <a:lstStyle/>
          <a:p>
            <a:pPr algn="ctr"/>
            <a:r>
              <a:rPr sz="1600" b="1">
                <a:solidFill>
                  <a:srgbClr val="E8ECF4"/>
                </a:solidFill>
                <a:latin typeface="Calibri"/>
              </a:rPr>
              <a:t>Despachar y seguir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sz="1300">
                <a:solidFill>
                  <a:srgbClr val="8B96B3"/>
                </a:solidFill>
                <a:latin typeface="Calibri"/>
              </a:rPr>
              <a:t>Asignación de unidades con reglas de negocio en el servidor, hasta el cierre del caso.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0760" y="4434840"/>
            <a:ext cx="5166360" cy="1417320"/>
          </a:xfrm>
          <a:prstGeom prst="roundRect">
            <a:avLst>
              <a:gd name="adj" fmla="val 6000"/>
            </a:avLst>
          </a:prstGeom>
          <a:solidFill>
            <a:srgbClr val="121A2B"/>
          </a:solidFill>
          <a:ln w="12700">
            <a:solidFill>
              <a:srgbClr val="26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46304" bIns="146304"/>
          <a:lstStyle/>
          <a:p>
            <a:pPr algn="ctr"/>
            <a:r>
              <a:rPr sz="1600" b="1">
                <a:solidFill>
                  <a:srgbClr val="E8ECF4"/>
                </a:solidFill>
                <a:latin typeface="Calibri"/>
              </a:rPr>
              <a:t>Medir y auditar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sz="1300">
                <a:solidFill>
                  <a:srgbClr val="8B96B3"/>
                </a:solidFill>
                <a:latin typeface="Calibri"/>
              </a:rPr>
              <a:t>Dashboard de indicadores y una línea de tiempo inalterable de cada emergencia.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98932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B96B3"/>
                </a:solidFill>
                <a:latin typeface="Consolas"/>
              </a:rPr>
              <a:t>7 roles distintos — desde Operador hasta Administrador nacional.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8A3D"/>
                </a:solidFill>
                <a:latin typeface="Consolas"/>
              </a:rPr>
              <a:t>CÓMO SE CONSTRUYÓ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7899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ECF4"/>
                </a:solidFill>
                <a:latin typeface="Arial Black"/>
              </a:rPr>
              <a:t>Spec-Driven Development: la decisión</a:t>
            </a:r>
          </a:p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ECF4"/>
                </a:solidFill>
                <a:latin typeface="Arial Black"/>
              </a:rPr>
              <a:t>se escribe antes que el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514600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8B96B3"/>
                </a:solidFill>
                <a:latin typeface="Calibri"/>
              </a:rPr>
              <a:t>Un flujo de 9 etapas donde cada una solo empieza si la anterior quedó aprobada y registrada.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566160"/>
            <a:ext cx="1114856" cy="457200"/>
          </a:xfrm>
          <a:prstGeom prst="roundRect">
            <a:avLst>
              <a:gd name="adj" fmla="val 50000"/>
            </a:avLst>
          </a:prstGeom>
          <a:solidFill>
            <a:srgbClr val="121A2B"/>
          </a:solidFill>
          <a:ln w="15875">
            <a:solidFill>
              <a:srgbClr val="26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/>
          <a:lstStyle/>
          <a:p>
            <a:pPr algn="ctr"/>
            <a:r>
              <a:rPr sz="900" b="0">
                <a:solidFill>
                  <a:srgbClr val="8B96B3"/>
                </a:solidFill>
                <a:latin typeface="Consolas"/>
              </a:rPr>
              <a:t>1 Constitución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64664" y="3566160"/>
            <a:ext cx="1114856" cy="457200"/>
          </a:xfrm>
          <a:prstGeom prst="roundRect">
            <a:avLst>
              <a:gd name="adj" fmla="val 50000"/>
            </a:avLst>
          </a:prstGeom>
          <a:solidFill>
            <a:srgbClr val="121A2B"/>
          </a:solidFill>
          <a:ln w="15875">
            <a:solidFill>
              <a:srgbClr val="26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/>
          <a:lstStyle/>
          <a:p>
            <a:pPr algn="ctr"/>
            <a:r>
              <a:rPr sz="900" b="0">
                <a:solidFill>
                  <a:srgbClr val="8B96B3"/>
                </a:solidFill>
                <a:latin typeface="Consolas"/>
              </a:rPr>
              <a:t>2 Especificar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89248" y="3566160"/>
            <a:ext cx="1114856" cy="457200"/>
          </a:xfrm>
          <a:prstGeom prst="roundRect">
            <a:avLst>
              <a:gd name="adj" fmla="val 50000"/>
            </a:avLst>
          </a:prstGeom>
          <a:solidFill>
            <a:srgbClr val="121A2B"/>
          </a:solidFill>
          <a:ln w="15875">
            <a:solidFill>
              <a:srgbClr val="26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/>
          <a:lstStyle/>
          <a:p>
            <a:pPr algn="ctr"/>
            <a:r>
              <a:rPr sz="900" b="0">
                <a:solidFill>
                  <a:srgbClr val="8B96B3"/>
                </a:solidFill>
                <a:latin typeface="Consolas"/>
              </a:rPr>
              <a:t>3 Aclarar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3832" y="3566160"/>
            <a:ext cx="1114856" cy="457200"/>
          </a:xfrm>
          <a:prstGeom prst="roundRect">
            <a:avLst>
              <a:gd name="adj" fmla="val 50000"/>
            </a:avLst>
          </a:prstGeom>
          <a:solidFill>
            <a:srgbClr val="121A2B"/>
          </a:solidFill>
          <a:ln w="15875">
            <a:solidFill>
              <a:srgbClr val="26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/>
          <a:lstStyle/>
          <a:p>
            <a:pPr algn="ctr"/>
            <a:r>
              <a:rPr sz="900" b="0">
                <a:solidFill>
                  <a:srgbClr val="8B96B3"/>
                </a:solidFill>
                <a:latin typeface="Consolas"/>
              </a:rPr>
              <a:t>4 Planear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38416" y="3566160"/>
            <a:ext cx="1114856" cy="457200"/>
          </a:xfrm>
          <a:prstGeom prst="roundRect">
            <a:avLst>
              <a:gd name="adj" fmla="val 50000"/>
            </a:avLst>
          </a:prstGeom>
          <a:solidFill>
            <a:srgbClr val="121A2B"/>
          </a:solidFill>
          <a:ln w="15875">
            <a:solidFill>
              <a:srgbClr val="26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/>
          <a:lstStyle/>
          <a:p>
            <a:pPr algn="ctr"/>
            <a:r>
              <a:rPr sz="900" b="0">
                <a:solidFill>
                  <a:srgbClr val="8B96B3"/>
                </a:solidFill>
                <a:latin typeface="Consolas"/>
              </a:rPr>
              <a:t>5 Checklist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3000" y="3566160"/>
            <a:ext cx="1114856" cy="457200"/>
          </a:xfrm>
          <a:prstGeom prst="roundRect">
            <a:avLst>
              <a:gd name="adj" fmla="val 50000"/>
            </a:avLst>
          </a:prstGeom>
          <a:solidFill>
            <a:srgbClr val="121A2B"/>
          </a:solidFill>
          <a:ln w="15875">
            <a:solidFill>
              <a:srgbClr val="26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/>
          <a:lstStyle/>
          <a:p>
            <a:pPr algn="ctr"/>
            <a:r>
              <a:rPr sz="900" b="0">
                <a:solidFill>
                  <a:srgbClr val="8B96B3"/>
                </a:solidFill>
                <a:latin typeface="Consolas"/>
              </a:rPr>
              <a:t>6 Tareas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87584" y="3566160"/>
            <a:ext cx="1114856" cy="457200"/>
          </a:xfrm>
          <a:prstGeom prst="roundRect">
            <a:avLst>
              <a:gd name="adj" fmla="val 50000"/>
            </a:avLst>
          </a:prstGeom>
          <a:solidFill>
            <a:srgbClr val="121A2B"/>
          </a:solidFill>
          <a:ln w="15875">
            <a:solidFill>
              <a:srgbClr val="26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/>
          <a:lstStyle/>
          <a:p>
            <a:pPr algn="ctr"/>
            <a:r>
              <a:rPr sz="900" b="0">
                <a:solidFill>
                  <a:srgbClr val="8B96B3"/>
                </a:solidFill>
                <a:latin typeface="Consolas"/>
              </a:rPr>
              <a:t>7 Analizar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12168" y="3566160"/>
            <a:ext cx="1114856" cy="457200"/>
          </a:xfrm>
          <a:prstGeom prst="roundRect">
            <a:avLst>
              <a:gd name="adj" fmla="val 50000"/>
            </a:avLst>
          </a:prstGeom>
          <a:solidFill>
            <a:srgbClr val="121A2B"/>
          </a:solidFill>
          <a:ln w="15875">
            <a:solidFill>
              <a:srgbClr val="26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/>
          <a:lstStyle/>
          <a:p>
            <a:pPr algn="ctr"/>
            <a:r>
              <a:rPr sz="900" b="0">
                <a:solidFill>
                  <a:srgbClr val="8B96B3"/>
                </a:solidFill>
                <a:latin typeface="Consolas"/>
              </a:rPr>
              <a:t>8 Implementar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436752" y="3566160"/>
            <a:ext cx="1114856" cy="457200"/>
          </a:xfrm>
          <a:prstGeom prst="roundRect">
            <a:avLst>
              <a:gd name="adj" fmla="val 50000"/>
            </a:avLst>
          </a:prstGeom>
          <a:solidFill>
            <a:srgbClr val="121A2B"/>
          </a:solidFill>
          <a:ln w="15875">
            <a:solidFill>
              <a:srgbClr val="26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/>
          <a:lstStyle/>
          <a:p>
            <a:pPr algn="ctr"/>
            <a:r>
              <a:rPr sz="900" b="0">
                <a:solidFill>
                  <a:srgbClr val="8B96B3"/>
                </a:solidFill>
                <a:latin typeface="Consolas"/>
              </a:rPr>
              <a:t>9 Converger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8A3D"/>
                </a:solidFill>
                <a:latin typeface="Consolas"/>
              </a:rPr>
              <a:t>ETAPAS 1–2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96012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E8ECF4"/>
                </a:solidFill>
                <a:latin typeface="Arial Black"/>
              </a:rPr>
              <a:t>Constitución y Especificar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5212080" cy="3017520"/>
          </a:xfrm>
          <a:prstGeom prst="roundRect">
            <a:avLst>
              <a:gd name="adj" fmla="val 4000"/>
            </a:avLst>
          </a:prstGeom>
          <a:solidFill>
            <a:srgbClr val="121A2B"/>
          </a:solidFill>
          <a:ln w="12700">
            <a:solidFill>
              <a:srgbClr val="26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182880" bIns="182880"/>
          <a:lstStyle/>
          <a:p>
            <a:pPr algn="ctr"/>
            <a:r>
              <a:rPr sz="1300" b="1">
                <a:solidFill>
                  <a:srgbClr val="FF8A3D"/>
                </a:solidFill>
                <a:latin typeface="Consolas"/>
              </a:rPr>
              <a:t>CONSTITUCIÓN</a:t>
            </a:r>
          </a:p>
          <a:p>
            <a:pPr>
              <a:lnSpc>
                <a:spcPct val="125000"/>
              </a:lnSpc>
              <a:spcBef>
                <a:spcPts val="800"/>
              </a:spcBef>
            </a:pPr>
            <a:r>
              <a:rPr sz="1400">
                <a:solidFill>
                  <a:srgbClr val="8B96B3"/>
                </a:solidFill>
                <a:latin typeface="Calibri"/>
              </a:rPr>
              <a:t>7 principios no negociables, fijados antes de escribir la primera historia: arquitectura limpia, reglas de negocio solo en el backend, validación estricta, trazabilidad total, seguridad por defecto, calidad de código, alcance verificable.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920240"/>
            <a:ext cx="5486400" cy="3017520"/>
          </a:xfrm>
          <a:prstGeom prst="roundRect">
            <a:avLst>
              <a:gd name="adj" fmla="val 4000"/>
            </a:avLst>
          </a:prstGeom>
          <a:solidFill>
            <a:srgbClr val="121A2B"/>
          </a:solidFill>
          <a:ln w="12700">
            <a:solidFill>
              <a:srgbClr val="26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182880" bIns="182880"/>
          <a:lstStyle/>
          <a:p>
            <a:pPr algn="ctr"/>
            <a:r>
              <a:rPr sz="1300" b="1">
                <a:solidFill>
                  <a:srgbClr val="FF8A3D"/>
                </a:solidFill>
                <a:latin typeface="Consolas"/>
              </a:rPr>
              <a:t>ESPECIFICAR</a:t>
            </a:r>
          </a:p>
          <a:p>
            <a:pPr>
              <a:lnSpc>
                <a:spcPct val="125000"/>
              </a:lnSpc>
              <a:spcBef>
                <a:spcPts val="800"/>
              </a:spcBef>
            </a:pPr>
            <a:r>
              <a:rPr sz="1400">
                <a:solidFill>
                  <a:srgbClr val="8B96B3"/>
                </a:solidFill>
                <a:latin typeface="Calibri"/>
              </a:rPr>
              <a:t>Historias de usuario y criterios de aceptación, en el lenguaje del operador de emergencias — no en el del programador.</a:t>
            </a:r>
          </a:p>
          <a:p>
            <a:pPr>
              <a:lnSpc>
                <a:spcPct val="125000"/>
              </a:lnSpc>
              <a:spcBef>
                <a:spcPts val="800"/>
              </a:spcBef>
            </a:pPr>
            <a:r>
              <a:rPr sz="1400">
                <a:solidFill>
                  <a:srgbClr val="3DDC97"/>
                </a:solidFill>
                <a:latin typeface="Consolas"/>
              </a:rPr>
              <a:t>MVP → 6 historias · 25 requisitos</a:t>
            </a:r>
          </a:p>
          <a:p>
            <a:pPr>
              <a:lnSpc>
                <a:spcPct val="125000"/>
              </a:lnSpc>
              <a:spcBef>
                <a:spcPts val="800"/>
              </a:spcBef>
            </a:pPr>
            <a:r>
              <a:rPr sz="1400">
                <a:solidFill>
                  <a:srgbClr val="3DDC97"/>
                </a:solidFill>
                <a:latin typeface="Consolas"/>
              </a:rPr>
              <a:t>Ampliación → 9 historias · 31 requisitos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943600"/>
            <a:ext cx="1114856" cy="457200"/>
          </a:xfrm>
          <a:prstGeom prst="roundRect">
            <a:avLst>
              <a:gd name="adj" fmla="val 50000"/>
            </a:avLst>
          </a:prstGeom>
          <a:solidFill>
            <a:srgbClr val="121A2B"/>
          </a:solidFill>
          <a:ln w="15875">
            <a:solidFill>
              <a:srgbClr val="26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/>
          <a:lstStyle/>
          <a:p>
            <a:pPr algn="ctr"/>
            <a:r>
              <a:rPr sz="900" b="0">
                <a:solidFill>
                  <a:srgbClr val="8B96B3"/>
                </a:solidFill>
                <a:latin typeface="Consolas"/>
              </a:rPr>
              <a:t>1 Constitución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64664" y="5943600"/>
            <a:ext cx="1114856" cy="457200"/>
          </a:xfrm>
          <a:prstGeom prst="roundRect">
            <a:avLst>
              <a:gd name="adj" fmla="val 50000"/>
            </a:avLst>
          </a:prstGeom>
          <a:solidFill>
            <a:srgbClr val="121A2B"/>
          </a:solidFill>
          <a:ln w="15875">
            <a:solidFill>
              <a:srgbClr val="FF8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/>
          <a:lstStyle/>
          <a:p>
            <a:pPr algn="ctr"/>
            <a:r>
              <a:rPr sz="900" b="1">
                <a:solidFill>
                  <a:srgbClr val="FF8A3D"/>
                </a:solidFill>
                <a:latin typeface="Consolas"/>
              </a:rPr>
              <a:t>2 Especificar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89248" y="5943600"/>
            <a:ext cx="1114856" cy="457200"/>
          </a:xfrm>
          <a:prstGeom prst="roundRect">
            <a:avLst>
              <a:gd name="adj" fmla="val 50000"/>
            </a:avLst>
          </a:prstGeom>
          <a:solidFill>
            <a:srgbClr val="121A2B"/>
          </a:solidFill>
          <a:ln w="15875">
            <a:solidFill>
              <a:srgbClr val="26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/>
          <a:lstStyle/>
          <a:p>
            <a:pPr algn="ctr"/>
            <a:r>
              <a:rPr sz="900" b="0">
                <a:solidFill>
                  <a:srgbClr val="8B96B3"/>
                </a:solidFill>
                <a:latin typeface="Consolas"/>
              </a:rPr>
              <a:t>3 Aclarar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3832" y="5943600"/>
            <a:ext cx="1114856" cy="457200"/>
          </a:xfrm>
          <a:prstGeom prst="roundRect">
            <a:avLst>
              <a:gd name="adj" fmla="val 50000"/>
            </a:avLst>
          </a:prstGeom>
          <a:solidFill>
            <a:srgbClr val="121A2B"/>
          </a:solidFill>
          <a:ln w="15875">
            <a:solidFill>
              <a:srgbClr val="26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/>
          <a:lstStyle/>
          <a:p>
            <a:pPr algn="ctr"/>
            <a:r>
              <a:rPr sz="900" b="0">
                <a:solidFill>
                  <a:srgbClr val="8B96B3"/>
                </a:solidFill>
                <a:latin typeface="Consolas"/>
              </a:rPr>
              <a:t>4 Planear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38416" y="5943600"/>
            <a:ext cx="1114856" cy="457200"/>
          </a:xfrm>
          <a:prstGeom prst="roundRect">
            <a:avLst>
              <a:gd name="adj" fmla="val 50000"/>
            </a:avLst>
          </a:prstGeom>
          <a:solidFill>
            <a:srgbClr val="121A2B"/>
          </a:solidFill>
          <a:ln w="15875">
            <a:solidFill>
              <a:srgbClr val="26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/>
          <a:lstStyle/>
          <a:p>
            <a:pPr algn="ctr"/>
            <a:r>
              <a:rPr sz="900" b="0">
                <a:solidFill>
                  <a:srgbClr val="8B96B3"/>
                </a:solidFill>
                <a:latin typeface="Consolas"/>
              </a:rPr>
              <a:t>5 Checklist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63000" y="5943600"/>
            <a:ext cx="1114856" cy="457200"/>
          </a:xfrm>
          <a:prstGeom prst="roundRect">
            <a:avLst>
              <a:gd name="adj" fmla="val 50000"/>
            </a:avLst>
          </a:prstGeom>
          <a:solidFill>
            <a:srgbClr val="121A2B"/>
          </a:solidFill>
          <a:ln w="15875">
            <a:solidFill>
              <a:srgbClr val="26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/>
          <a:lstStyle/>
          <a:p>
            <a:pPr algn="ctr"/>
            <a:r>
              <a:rPr sz="900" b="0">
                <a:solidFill>
                  <a:srgbClr val="8B96B3"/>
                </a:solidFill>
                <a:latin typeface="Consolas"/>
              </a:rPr>
              <a:t>6 Tareas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87584" y="5943600"/>
            <a:ext cx="1114856" cy="457200"/>
          </a:xfrm>
          <a:prstGeom prst="roundRect">
            <a:avLst>
              <a:gd name="adj" fmla="val 50000"/>
            </a:avLst>
          </a:prstGeom>
          <a:solidFill>
            <a:srgbClr val="121A2B"/>
          </a:solidFill>
          <a:ln w="15875">
            <a:solidFill>
              <a:srgbClr val="26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/>
          <a:lstStyle/>
          <a:p>
            <a:pPr algn="ctr"/>
            <a:r>
              <a:rPr sz="900" b="0">
                <a:solidFill>
                  <a:srgbClr val="8B96B3"/>
                </a:solidFill>
                <a:latin typeface="Consolas"/>
              </a:rPr>
              <a:t>7 Analizar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12168" y="5943600"/>
            <a:ext cx="1114856" cy="457200"/>
          </a:xfrm>
          <a:prstGeom prst="roundRect">
            <a:avLst>
              <a:gd name="adj" fmla="val 50000"/>
            </a:avLst>
          </a:prstGeom>
          <a:solidFill>
            <a:srgbClr val="121A2B"/>
          </a:solidFill>
          <a:ln w="15875">
            <a:solidFill>
              <a:srgbClr val="26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/>
          <a:lstStyle/>
          <a:p>
            <a:pPr algn="ctr"/>
            <a:r>
              <a:rPr sz="900" b="0">
                <a:solidFill>
                  <a:srgbClr val="8B96B3"/>
                </a:solidFill>
                <a:latin typeface="Consolas"/>
              </a:rPr>
              <a:t>8 Implementar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436752" y="5943600"/>
            <a:ext cx="1114856" cy="457200"/>
          </a:xfrm>
          <a:prstGeom prst="roundRect">
            <a:avLst>
              <a:gd name="adj" fmla="val 50000"/>
            </a:avLst>
          </a:prstGeom>
          <a:solidFill>
            <a:srgbClr val="121A2B"/>
          </a:solidFill>
          <a:ln w="15875">
            <a:solidFill>
              <a:srgbClr val="26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/>
          <a:lstStyle/>
          <a:p>
            <a:pPr algn="ctr"/>
            <a:r>
              <a:rPr sz="900" b="0">
                <a:solidFill>
                  <a:srgbClr val="8B96B3"/>
                </a:solidFill>
                <a:latin typeface="Consolas"/>
              </a:rPr>
              <a:t>9 Converger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8A3D"/>
                </a:solidFill>
                <a:latin typeface="Consolas"/>
              </a:rPr>
              <a:t>ETAPA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ECF4"/>
                </a:solidFill>
                <a:latin typeface="Arial Black"/>
              </a:rPr>
              <a:t>Aclarar: nunca decidir el alcance</a:t>
            </a:r>
          </a:p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ECF4"/>
                </a:solidFill>
                <a:latin typeface="Arial Black"/>
              </a:rPr>
              <a:t>por intuición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606040"/>
            <a:ext cx="45720" cy="777240"/>
          </a:xfrm>
          <a:prstGeom prst="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606040"/>
            <a:ext cx="9875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E8ECF4"/>
                </a:solidFill>
                <a:latin typeface="Calibri"/>
              </a:rPr>
              <a:t>¿Qué pasa si dos operadores despachan la misma unidad a la vez?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71800"/>
            <a:ext cx="9875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3DDC97"/>
                </a:solidFill>
                <a:latin typeface="Consolas"/>
              </a:rPr>
              <a:t>→ Se revalida su disponibilidad al guardar; el segundo intento se rechaza explícitamente.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611880"/>
            <a:ext cx="45720" cy="777240"/>
          </a:xfrm>
          <a:prstGeom prst="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611880"/>
            <a:ext cx="9875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E8ECF4"/>
                </a:solidFill>
                <a:latin typeface="Calibri"/>
              </a:rPr>
              <a:t>¿Una “Unidad de respuesta” tiene su propia cuenta?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977640"/>
            <a:ext cx="9875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3DDC97"/>
                </a:solidFill>
                <a:latin typeface="Consolas"/>
              </a:rPr>
              <a:t>→ Sí — inicia sesión por sí misma y solo puede actualizar su propia unidad.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617720"/>
            <a:ext cx="45720" cy="777240"/>
          </a:xfrm>
          <a:prstGeom prst="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617720"/>
            <a:ext cx="9875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E8ECF4"/>
                </a:solidFill>
                <a:latin typeface="Calibri"/>
              </a:rPr>
              <a:t>¿Qué tan exacta es la ubicación pública, sin iniciar sesión?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983480"/>
            <a:ext cx="9875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3DDC97"/>
                </a:solidFill>
                <a:latin typeface="Consolas"/>
              </a:rPr>
              <a:t>→ Redondeada al distrito. La coordenada exacta solo la ven usuarios autenticados.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943600"/>
            <a:ext cx="1114856" cy="457200"/>
          </a:xfrm>
          <a:prstGeom prst="roundRect">
            <a:avLst>
              <a:gd name="adj" fmla="val 50000"/>
            </a:avLst>
          </a:prstGeom>
          <a:solidFill>
            <a:srgbClr val="121A2B"/>
          </a:solidFill>
          <a:ln w="15875">
            <a:solidFill>
              <a:srgbClr val="26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/>
          <a:lstStyle/>
          <a:p>
            <a:pPr algn="ctr"/>
            <a:r>
              <a:rPr sz="900" b="0">
                <a:solidFill>
                  <a:srgbClr val="8B96B3"/>
                </a:solidFill>
                <a:latin typeface="Consolas"/>
              </a:rPr>
              <a:t>1 Constitución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864664" y="5943600"/>
            <a:ext cx="1114856" cy="457200"/>
          </a:xfrm>
          <a:prstGeom prst="roundRect">
            <a:avLst>
              <a:gd name="adj" fmla="val 50000"/>
            </a:avLst>
          </a:prstGeom>
          <a:solidFill>
            <a:srgbClr val="121A2B"/>
          </a:solidFill>
          <a:ln w="15875">
            <a:solidFill>
              <a:srgbClr val="26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/>
          <a:lstStyle/>
          <a:p>
            <a:pPr algn="ctr"/>
            <a:r>
              <a:rPr sz="900" b="0">
                <a:solidFill>
                  <a:srgbClr val="8B96B3"/>
                </a:solidFill>
                <a:latin typeface="Consolas"/>
              </a:rPr>
              <a:t>2 Especificar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89248" y="5943600"/>
            <a:ext cx="1114856" cy="457200"/>
          </a:xfrm>
          <a:prstGeom prst="roundRect">
            <a:avLst>
              <a:gd name="adj" fmla="val 50000"/>
            </a:avLst>
          </a:prstGeom>
          <a:solidFill>
            <a:srgbClr val="121A2B"/>
          </a:solidFill>
          <a:ln w="15875">
            <a:solidFill>
              <a:srgbClr val="FF8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/>
          <a:lstStyle/>
          <a:p>
            <a:pPr algn="ctr"/>
            <a:r>
              <a:rPr sz="900" b="1">
                <a:solidFill>
                  <a:srgbClr val="FF8A3D"/>
                </a:solidFill>
                <a:latin typeface="Consolas"/>
              </a:rPr>
              <a:t>3 Aclarar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13832" y="5943600"/>
            <a:ext cx="1114856" cy="457200"/>
          </a:xfrm>
          <a:prstGeom prst="roundRect">
            <a:avLst>
              <a:gd name="adj" fmla="val 50000"/>
            </a:avLst>
          </a:prstGeom>
          <a:solidFill>
            <a:srgbClr val="121A2B"/>
          </a:solidFill>
          <a:ln w="15875">
            <a:solidFill>
              <a:srgbClr val="26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/>
          <a:lstStyle/>
          <a:p>
            <a:pPr algn="ctr"/>
            <a:r>
              <a:rPr sz="900" b="0">
                <a:solidFill>
                  <a:srgbClr val="8B96B3"/>
                </a:solidFill>
                <a:latin typeface="Consolas"/>
              </a:rPr>
              <a:t>4 Planear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538416" y="5943600"/>
            <a:ext cx="1114856" cy="457200"/>
          </a:xfrm>
          <a:prstGeom prst="roundRect">
            <a:avLst>
              <a:gd name="adj" fmla="val 50000"/>
            </a:avLst>
          </a:prstGeom>
          <a:solidFill>
            <a:srgbClr val="121A2B"/>
          </a:solidFill>
          <a:ln w="15875">
            <a:solidFill>
              <a:srgbClr val="26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/>
          <a:lstStyle/>
          <a:p>
            <a:pPr algn="ctr"/>
            <a:r>
              <a:rPr sz="900" b="0">
                <a:solidFill>
                  <a:srgbClr val="8B96B3"/>
                </a:solidFill>
                <a:latin typeface="Consolas"/>
              </a:rPr>
              <a:t>5 Checklist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63000" y="5943600"/>
            <a:ext cx="1114856" cy="457200"/>
          </a:xfrm>
          <a:prstGeom prst="roundRect">
            <a:avLst>
              <a:gd name="adj" fmla="val 50000"/>
            </a:avLst>
          </a:prstGeom>
          <a:solidFill>
            <a:srgbClr val="121A2B"/>
          </a:solidFill>
          <a:ln w="15875">
            <a:solidFill>
              <a:srgbClr val="26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/>
          <a:lstStyle/>
          <a:p>
            <a:pPr algn="ctr"/>
            <a:r>
              <a:rPr sz="900" b="0">
                <a:solidFill>
                  <a:srgbClr val="8B96B3"/>
                </a:solidFill>
                <a:latin typeface="Consolas"/>
              </a:rPr>
              <a:t>6 Tareas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87584" y="5943600"/>
            <a:ext cx="1114856" cy="457200"/>
          </a:xfrm>
          <a:prstGeom prst="roundRect">
            <a:avLst>
              <a:gd name="adj" fmla="val 50000"/>
            </a:avLst>
          </a:prstGeom>
          <a:solidFill>
            <a:srgbClr val="121A2B"/>
          </a:solidFill>
          <a:ln w="15875">
            <a:solidFill>
              <a:srgbClr val="26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/>
          <a:lstStyle/>
          <a:p>
            <a:pPr algn="ctr"/>
            <a:r>
              <a:rPr sz="900" b="0">
                <a:solidFill>
                  <a:srgbClr val="8B96B3"/>
                </a:solidFill>
                <a:latin typeface="Consolas"/>
              </a:rPr>
              <a:t>7 Analizar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12168" y="5943600"/>
            <a:ext cx="1114856" cy="457200"/>
          </a:xfrm>
          <a:prstGeom prst="roundRect">
            <a:avLst>
              <a:gd name="adj" fmla="val 50000"/>
            </a:avLst>
          </a:prstGeom>
          <a:solidFill>
            <a:srgbClr val="121A2B"/>
          </a:solidFill>
          <a:ln w="15875">
            <a:solidFill>
              <a:srgbClr val="26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/>
          <a:lstStyle/>
          <a:p>
            <a:pPr algn="ctr"/>
            <a:r>
              <a:rPr sz="900" b="0">
                <a:solidFill>
                  <a:srgbClr val="8B96B3"/>
                </a:solidFill>
                <a:latin typeface="Consolas"/>
              </a:rPr>
              <a:t>8 Implementar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436752" y="5943600"/>
            <a:ext cx="1114856" cy="457200"/>
          </a:xfrm>
          <a:prstGeom prst="roundRect">
            <a:avLst>
              <a:gd name="adj" fmla="val 50000"/>
            </a:avLst>
          </a:prstGeom>
          <a:solidFill>
            <a:srgbClr val="121A2B"/>
          </a:solidFill>
          <a:ln w="15875">
            <a:solidFill>
              <a:srgbClr val="26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/>
          <a:lstStyle/>
          <a:p>
            <a:pPr algn="ctr"/>
            <a:r>
              <a:rPr sz="900" b="0">
                <a:solidFill>
                  <a:srgbClr val="8B96B3"/>
                </a:solidFill>
                <a:latin typeface="Consolas"/>
              </a:rPr>
              <a:t>9 Converger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8A3D"/>
                </a:solidFill>
                <a:latin typeface="Consolas"/>
              </a:rPr>
              <a:t>ETAPAS 4–5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96012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E8ECF4"/>
                </a:solidFill>
                <a:latin typeface="Arial Black"/>
              </a:rPr>
              <a:t>Planear y Checklist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5212080" cy="3017520"/>
          </a:xfrm>
          <a:prstGeom prst="roundRect">
            <a:avLst>
              <a:gd name="adj" fmla="val 4000"/>
            </a:avLst>
          </a:prstGeom>
          <a:solidFill>
            <a:srgbClr val="121A2B"/>
          </a:solidFill>
          <a:ln w="12700">
            <a:solidFill>
              <a:srgbClr val="26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182880" bIns="182880"/>
          <a:lstStyle/>
          <a:p>
            <a:pPr algn="ctr"/>
            <a:r>
              <a:rPr sz="1300" b="1">
                <a:solidFill>
                  <a:srgbClr val="FF8A3D"/>
                </a:solidFill>
                <a:latin typeface="Consolas"/>
              </a:rPr>
              <a:t>PLANEAR</a:t>
            </a:r>
          </a:p>
          <a:p>
            <a:pPr>
              <a:lnSpc>
                <a:spcPct val="125000"/>
              </a:lnSpc>
              <a:spcBef>
                <a:spcPts val="800"/>
              </a:spcBef>
            </a:pPr>
            <a:r>
              <a:rPr sz="1400">
                <a:solidFill>
                  <a:srgbClr val="8B96B3"/>
                </a:solidFill>
                <a:latin typeface="Calibri"/>
              </a:rPr>
              <a:t>Angular 20 + CoreUI · .NET 10 + Clean Architecture · MySQL · SignalR.</a:t>
            </a:r>
          </a:p>
          <a:p>
            <a:pPr>
              <a:lnSpc>
                <a:spcPct val="125000"/>
              </a:lnSpc>
              <a:spcBef>
                <a:spcPts val="800"/>
              </a:spcBef>
            </a:pPr>
            <a:r>
              <a:rPr sz="1400">
                <a:solidFill>
                  <a:srgbClr val="8B96B3"/>
                </a:solidFill>
                <a:latin typeface="Calibri"/>
              </a:rPr>
              <a:t>Arquitectura de dos capas — sin microservicios, porque el alcance no los justifica.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920240"/>
            <a:ext cx="5486400" cy="3017520"/>
          </a:xfrm>
          <a:prstGeom prst="roundRect">
            <a:avLst>
              <a:gd name="adj" fmla="val 4000"/>
            </a:avLst>
          </a:prstGeom>
          <a:solidFill>
            <a:srgbClr val="121A2B"/>
          </a:solidFill>
          <a:ln w="12700">
            <a:solidFill>
              <a:srgbClr val="26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182880" bIns="182880"/>
          <a:lstStyle/>
          <a:p>
            <a:pPr algn="ctr"/>
            <a:r>
              <a:rPr sz="1300" b="1">
                <a:solidFill>
                  <a:srgbClr val="FF8A3D"/>
                </a:solidFill>
                <a:latin typeface="Consolas"/>
              </a:rPr>
              <a:t>CHECKLIST</a:t>
            </a:r>
          </a:p>
          <a:p>
            <a:pPr>
              <a:lnSpc>
                <a:spcPct val="125000"/>
              </a:lnSpc>
              <a:spcBef>
                <a:spcPts val="800"/>
              </a:spcBef>
            </a:pPr>
            <a:r>
              <a:rPr sz="1400">
                <a:solidFill>
                  <a:srgbClr val="8B96B3"/>
                </a:solidFill>
                <a:latin typeface="Calibri"/>
              </a:rPr>
              <a:t>“Unit tests” para el texto de la especificación: verifica que cada requisito sea completo, claro y sin ambigüedad antes de tocar código.</a:t>
            </a:r>
          </a:p>
          <a:p>
            <a:pPr>
              <a:lnSpc>
                <a:spcPct val="125000"/>
              </a:lnSpc>
              <a:spcBef>
                <a:spcPts val="800"/>
              </a:spcBef>
            </a:pPr>
            <a:r>
              <a:rPr sz="1400">
                <a:solidFill>
                  <a:srgbClr val="3DDC97"/>
                </a:solidFill>
                <a:latin typeface="Consolas"/>
              </a:rPr>
              <a:t>MVP → 33 verificaciones</a:t>
            </a:r>
          </a:p>
          <a:p>
            <a:pPr>
              <a:lnSpc>
                <a:spcPct val="125000"/>
              </a:lnSpc>
              <a:spcBef>
                <a:spcPts val="800"/>
              </a:spcBef>
            </a:pPr>
            <a:r>
              <a:rPr sz="1400">
                <a:solidFill>
                  <a:srgbClr val="3DDC97"/>
                </a:solidFill>
                <a:latin typeface="Consolas"/>
              </a:rPr>
              <a:t>Ampliación → 39 verificaciones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943600"/>
            <a:ext cx="1114856" cy="457200"/>
          </a:xfrm>
          <a:prstGeom prst="roundRect">
            <a:avLst>
              <a:gd name="adj" fmla="val 50000"/>
            </a:avLst>
          </a:prstGeom>
          <a:solidFill>
            <a:srgbClr val="121A2B"/>
          </a:solidFill>
          <a:ln w="15875">
            <a:solidFill>
              <a:srgbClr val="26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/>
          <a:lstStyle/>
          <a:p>
            <a:pPr algn="ctr"/>
            <a:r>
              <a:rPr sz="900" b="0">
                <a:solidFill>
                  <a:srgbClr val="8B96B3"/>
                </a:solidFill>
                <a:latin typeface="Consolas"/>
              </a:rPr>
              <a:t>1 Constitución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64664" y="5943600"/>
            <a:ext cx="1114856" cy="457200"/>
          </a:xfrm>
          <a:prstGeom prst="roundRect">
            <a:avLst>
              <a:gd name="adj" fmla="val 50000"/>
            </a:avLst>
          </a:prstGeom>
          <a:solidFill>
            <a:srgbClr val="121A2B"/>
          </a:solidFill>
          <a:ln w="15875">
            <a:solidFill>
              <a:srgbClr val="26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/>
          <a:lstStyle/>
          <a:p>
            <a:pPr algn="ctr"/>
            <a:r>
              <a:rPr sz="900" b="0">
                <a:solidFill>
                  <a:srgbClr val="8B96B3"/>
                </a:solidFill>
                <a:latin typeface="Consolas"/>
              </a:rPr>
              <a:t>2 Especificar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89248" y="5943600"/>
            <a:ext cx="1114856" cy="457200"/>
          </a:xfrm>
          <a:prstGeom prst="roundRect">
            <a:avLst>
              <a:gd name="adj" fmla="val 50000"/>
            </a:avLst>
          </a:prstGeom>
          <a:solidFill>
            <a:srgbClr val="121A2B"/>
          </a:solidFill>
          <a:ln w="15875">
            <a:solidFill>
              <a:srgbClr val="26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/>
          <a:lstStyle/>
          <a:p>
            <a:pPr algn="ctr"/>
            <a:r>
              <a:rPr sz="900" b="0">
                <a:solidFill>
                  <a:srgbClr val="8B96B3"/>
                </a:solidFill>
                <a:latin typeface="Consolas"/>
              </a:rPr>
              <a:t>3 Aclarar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3832" y="5943600"/>
            <a:ext cx="1114856" cy="457200"/>
          </a:xfrm>
          <a:prstGeom prst="roundRect">
            <a:avLst>
              <a:gd name="adj" fmla="val 50000"/>
            </a:avLst>
          </a:prstGeom>
          <a:solidFill>
            <a:srgbClr val="121A2B"/>
          </a:solidFill>
          <a:ln w="15875">
            <a:solidFill>
              <a:srgbClr val="FF8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/>
          <a:lstStyle/>
          <a:p>
            <a:pPr algn="ctr"/>
            <a:r>
              <a:rPr sz="900" b="1">
                <a:solidFill>
                  <a:srgbClr val="FF8A3D"/>
                </a:solidFill>
                <a:latin typeface="Consolas"/>
              </a:rPr>
              <a:t>4 Planear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38416" y="5943600"/>
            <a:ext cx="1114856" cy="457200"/>
          </a:xfrm>
          <a:prstGeom prst="roundRect">
            <a:avLst>
              <a:gd name="adj" fmla="val 50000"/>
            </a:avLst>
          </a:prstGeom>
          <a:solidFill>
            <a:srgbClr val="121A2B"/>
          </a:solidFill>
          <a:ln w="15875">
            <a:solidFill>
              <a:srgbClr val="26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/>
          <a:lstStyle/>
          <a:p>
            <a:pPr algn="ctr"/>
            <a:r>
              <a:rPr sz="900" b="0">
                <a:solidFill>
                  <a:srgbClr val="8B96B3"/>
                </a:solidFill>
                <a:latin typeface="Consolas"/>
              </a:rPr>
              <a:t>5 Checklist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63000" y="5943600"/>
            <a:ext cx="1114856" cy="457200"/>
          </a:xfrm>
          <a:prstGeom prst="roundRect">
            <a:avLst>
              <a:gd name="adj" fmla="val 50000"/>
            </a:avLst>
          </a:prstGeom>
          <a:solidFill>
            <a:srgbClr val="121A2B"/>
          </a:solidFill>
          <a:ln w="15875">
            <a:solidFill>
              <a:srgbClr val="26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/>
          <a:lstStyle/>
          <a:p>
            <a:pPr algn="ctr"/>
            <a:r>
              <a:rPr sz="900" b="0">
                <a:solidFill>
                  <a:srgbClr val="8B96B3"/>
                </a:solidFill>
                <a:latin typeface="Consolas"/>
              </a:rPr>
              <a:t>6 Tareas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87584" y="5943600"/>
            <a:ext cx="1114856" cy="457200"/>
          </a:xfrm>
          <a:prstGeom prst="roundRect">
            <a:avLst>
              <a:gd name="adj" fmla="val 50000"/>
            </a:avLst>
          </a:prstGeom>
          <a:solidFill>
            <a:srgbClr val="121A2B"/>
          </a:solidFill>
          <a:ln w="15875">
            <a:solidFill>
              <a:srgbClr val="26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/>
          <a:lstStyle/>
          <a:p>
            <a:pPr algn="ctr"/>
            <a:r>
              <a:rPr sz="900" b="0">
                <a:solidFill>
                  <a:srgbClr val="8B96B3"/>
                </a:solidFill>
                <a:latin typeface="Consolas"/>
              </a:rPr>
              <a:t>7 Analizar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12168" y="5943600"/>
            <a:ext cx="1114856" cy="457200"/>
          </a:xfrm>
          <a:prstGeom prst="roundRect">
            <a:avLst>
              <a:gd name="adj" fmla="val 50000"/>
            </a:avLst>
          </a:prstGeom>
          <a:solidFill>
            <a:srgbClr val="121A2B"/>
          </a:solidFill>
          <a:ln w="15875">
            <a:solidFill>
              <a:srgbClr val="26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/>
          <a:lstStyle/>
          <a:p>
            <a:pPr algn="ctr"/>
            <a:r>
              <a:rPr sz="900" b="0">
                <a:solidFill>
                  <a:srgbClr val="8B96B3"/>
                </a:solidFill>
                <a:latin typeface="Consolas"/>
              </a:rPr>
              <a:t>8 Implementar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436752" y="5943600"/>
            <a:ext cx="1114856" cy="457200"/>
          </a:xfrm>
          <a:prstGeom prst="roundRect">
            <a:avLst>
              <a:gd name="adj" fmla="val 50000"/>
            </a:avLst>
          </a:prstGeom>
          <a:solidFill>
            <a:srgbClr val="121A2B"/>
          </a:solidFill>
          <a:ln w="15875">
            <a:solidFill>
              <a:srgbClr val="26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/>
          <a:lstStyle/>
          <a:p>
            <a:pPr algn="ctr"/>
            <a:r>
              <a:rPr sz="900" b="0">
                <a:solidFill>
                  <a:srgbClr val="8B96B3"/>
                </a:solidFill>
                <a:latin typeface="Consolas"/>
              </a:rPr>
              <a:t>9 Converger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8A3D"/>
                </a:solidFill>
                <a:latin typeface="Consolas"/>
              </a:rPr>
              <a:t>ETAPAS 6–7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96012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E8ECF4"/>
                </a:solidFill>
                <a:latin typeface="Arial Black"/>
              </a:rPr>
              <a:t>Tareas y Analizar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5212080" cy="3017520"/>
          </a:xfrm>
          <a:prstGeom prst="roundRect">
            <a:avLst>
              <a:gd name="adj" fmla="val 4000"/>
            </a:avLst>
          </a:prstGeom>
          <a:solidFill>
            <a:srgbClr val="121A2B"/>
          </a:solidFill>
          <a:ln w="12700">
            <a:solidFill>
              <a:srgbClr val="26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182880" bIns="182880"/>
          <a:lstStyle/>
          <a:p>
            <a:pPr algn="ctr"/>
            <a:r>
              <a:rPr sz="1300" b="1">
                <a:solidFill>
                  <a:srgbClr val="FF8A3D"/>
                </a:solidFill>
                <a:latin typeface="Consolas"/>
              </a:rPr>
              <a:t>TAREAS</a:t>
            </a:r>
          </a:p>
          <a:p>
            <a:pPr>
              <a:lnSpc>
                <a:spcPct val="125000"/>
              </a:lnSpc>
              <a:spcBef>
                <a:spcPts val="800"/>
              </a:spcBef>
            </a:pPr>
            <a:r>
              <a:rPr sz="1400">
                <a:solidFill>
                  <a:srgbClr val="8B96B3"/>
                </a:solidFill>
                <a:latin typeface="Calibri"/>
              </a:rPr>
              <a:t>La especificación se convierte en una lista ordenada y trazable de trabajo, agrupada por historia de usuario.</a:t>
            </a:r>
          </a:p>
          <a:p>
            <a:pPr>
              <a:lnSpc>
                <a:spcPct val="125000"/>
              </a:lnSpc>
              <a:spcBef>
                <a:spcPts val="800"/>
              </a:spcBef>
            </a:pPr>
            <a:r>
              <a:rPr sz="1400">
                <a:solidFill>
                  <a:srgbClr val="3DDC97"/>
                </a:solidFill>
                <a:latin typeface="Consolas"/>
              </a:rPr>
              <a:t>75 tareas en el MVP · 75 en la Ampliación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920240"/>
            <a:ext cx="5486400" cy="3017520"/>
          </a:xfrm>
          <a:prstGeom prst="roundRect">
            <a:avLst>
              <a:gd name="adj" fmla="val 4000"/>
            </a:avLst>
          </a:prstGeom>
          <a:solidFill>
            <a:srgbClr val="121A2B"/>
          </a:solidFill>
          <a:ln w="12700">
            <a:solidFill>
              <a:srgbClr val="26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182880" bIns="182880"/>
          <a:lstStyle/>
          <a:p>
            <a:pPr algn="ctr"/>
            <a:r>
              <a:rPr sz="1300" b="1">
                <a:solidFill>
                  <a:srgbClr val="FF8A3D"/>
                </a:solidFill>
                <a:latin typeface="Consolas"/>
              </a:rPr>
              <a:t>ANALIZAR</a:t>
            </a:r>
          </a:p>
          <a:p>
            <a:pPr>
              <a:lnSpc>
                <a:spcPct val="125000"/>
              </a:lnSpc>
              <a:spcBef>
                <a:spcPts val="800"/>
              </a:spcBef>
            </a:pPr>
            <a:r>
              <a:rPr sz="1400">
                <a:solidFill>
                  <a:srgbClr val="8B96B3"/>
                </a:solidFill>
                <a:latin typeface="Calibri"/>
              </a:rPr>
              <a:t>Comparación cruzada automática entre especificación, plan y tareas, para encontrar huecos antes de programar.</a:t>
            </a:r>
          </a:p>
          <a:p>
            <a:pPr>
              <a:lnSpc>
                <a:spcPct val="125000"/>
              </a:lnSpc>
              <a:spcBef>
                <a:spcPts val="800"/>
              </a:spcBef>
            </a:pPr>
            <a:r>
              <a:rPr sz="1400">
                <a:solidFill>
                  <a:srgbClr val="FF8A3D"/>
                </a:solidFill>
                <a:latin typeface="Calibri"/>
              </a:rPr>
              <a:t>Hallazgo real: un rol podía cambiar el estado de CUALQUIER unidad, no solo la suya — corregido antes de escribir código de más.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943600"/>
            <a:ext cx="1114856" cy="457200"/>
          </a:xfrm>
          <a:prstGeom prst="roundRect">
            <a:avLst>
              <a:gd name="adj" fmla="val 50000"/>
            </a:avLst>
          </a:prstGeom>
          <a:solidFill>
            <a:srgbClr val="121A2B"/>
          </a:solidFill>
          <a:ln w="15875">
            <a:solidFill>
              <a:srgbClr val="26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/>
          <a:lstStyle/>
          <a:p>
            <a:pPr algn="ctr"/>
            <a:r>
              <a:rPr sz="900" b="0">
                <a:solidFill>
                  <a:srgbClr val="8B96B3"/>
                </a:solidFill>
                <a:latin typeface="Consolas"/>
              </a:rPr>
              <a:t>1 Constitución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64664" y="5943600"/>
            <a:ext cx="1114856" cy="457200"/>
          </a:xfrm>
          <a:prstGeom prst="roundRect">
            <a:avLst>
              <a:gd name="adj" fmla="val 50000"/>
            </a:avLst>
          </a:prstGeom>
          <a:solidFill>
            <a:srgbClr val="121A2B"/>
          </a:solidFill>
          <a:ln w="15875">
            <a:solidFill>
              <a:srgbClr val="26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/>
          <a:lstStyle/>
          <a:p>
            <a:pPr algn="ctr"/>
            <a:r>
              <a:rPr sz="900" b="0">
                <a:solidFill>
                  <a:srgbClr val="8B96B3"/>
                </a:solidFill>
                <a:latin typeface="Consolas"/>
              </a:rPr>
              <a:t>2 Especificar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89248" y="5943600"/>
            <a:ext cx="1114856" cy="457200"/>
          </a:xfrm>
          <a:prstGeom prst="roundRect">
            <a:avLst>
              <a:gd name="adj" fmla="val 50000"/>
            </a:avLst>
          </a:prstGeom>
          <a:solidFill>
            <a:srgbClr val="121A2B"/>
          </a:solidFill>
          <a:ln w="15875">
            <a:solidFill>
              <a:srgbClr val="26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/>
          <a:lstStyle/>
          <a:p>
            <a:pPr algn="ctr"/>
            <a:r>
              <a:rPr sz="900" b="0">
                <a:solidFill>
                  <a:srgbClr val="8B96B3"/>
                </a:solidFill>
                <a:latin typeface="Consolas"/>
              </a:rPr>
              <a:t>3 Aclarar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3832" y="5943600"/>
            <a:ext cx="1114856" cy="457200"/>
          </a:xfrm>
          <a:prstGeom prst="roundRect">
            <a:avLst>
              <a:gd name="adj" fmla="val 50000"/>
            </a:avLst>
          </a:prstGeom>
          <a:solidFill>
            <a:srgbClr val="121A2B"/>
          </a:solidFill>
          <a:ln w="15875">
            <a:solidFill>
              <a:srgbClr val="26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/>
          <a:lstStyle/>
          <a:p>
            <a:pPr algn="ctr"/>
            <a:r>
              <a:rPr sz="900" b="0">
                <a:solidFill>
                  <a:srgbClr val="8B96B3"/>
                </a:solidFill>
                <a:latin typeface="Consolas"/>
              </a:rPr>
              <a:t>4 Planear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38416" y="5943600"/>
            <a:ext cx="1114856" cy="457200"/>
          </a:xfrm>
          <a:prstGeom prst="roundRect">
            <a:avLst>
              <a:gd name="adj" fmla="val 50000"/>
            </a:avLst>
          </a:prstGeom>
          <a:solidFill>
            <a:srgbClr val="121A2B"/>
          </a:solidFill>
          <a:ln w="15875">
            <a:solidFill>
              <a:srgbClr val="26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/>
          <a:lstStyle/>
          <a:p>
            <a:pPr algn="ctr"/>
            <a:r>
              <a:rPr sz="900" b="0">
                <a:solidFill>
                  <a:srgbClr val="8B96B3"/>
                </a:solidFill>
                <a:latin typeface="Consolas"/>
              </a:rPr>
              <a:t>5 Checklist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63000" y="5943600"/>
            <a:ext cx="1114856" cy="457200"/>
          </a:xfrm>
          <a:prstGeom prst="roundRect">
            <a:avLst>
              <a:gd name="adj" fmla="val 50000"/>
            </a:avLst>
          </a:prstGeom>
          <a:solidFill>
            <a:srgbClr val="121A2B"/>
          </a:solidFill>
          <a:ln w="15875">
            <a:solidFill>
              <a:srgbClr val="FF8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/>
          <a:lstStyle/>
          <a:p>
            <a:pPr algn="ctr"/>
            <a:r>
              <a:rPr sz="900" b="1">
                <a:solidFill>
                  <a:srgbClr val="FF8A3D"/>
                </a:solidFill>
                <a:latin typeface="Consolas"/>
              </a:rPr>
              <a:t>6 Tareas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87584" y="5943600"/>
            <a:ext cx="1114856" cy="457200"/>
          </a:xfrm>
          <a:prstGeom prst="roundRect">
            <a:avLst>
              <a:gd name="adj" fmla="val 50000"/>
            </a:avLst>
          </a:prstGeom>
          <a:solidFill>
            <a:srgbClr val="121A2B"/>
          </a:solidFill>
          <a:ln w="15875">
            <a:solidFill>
              <a:srgbClr val="26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/>
          <a:lstStyle/>
          <a:p>
            <a:pPr algn="ctr"/>
            <a:r>
              <a:rPr sz="900" b="0">
                <a:solidFill>
                  <a:srgbClr val="8B96B3"/>
                </a:solidFill>
                <a:latin typeface="Consolas"/>
              </a:rPr>
              <a:t>7 Analizar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12168" y="5943600"/>
            <a:ext cx="1114856" cy="457200"/>
          </a:xfrm>
          <a:prstGeom prst="roundRect">
            <a:avLst>
              <a:gd name="adj" fmla="val 50000"/>
            </a:avLst>
          </a:prstGeom>
          <a:solidFill>
            <a:srgbClr val="121A2B"/>
          </a:solidFill>
          <a:ln w="15875">
            <a:solidFill>
              <a:srgbClr val="26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/>
          <a:lstStyle/>
          <a:p>
            <a:pPr algn="ctr"/>
            <a:r>
              <a:rPr sz="900" b="0">
                <a:solidFill>
                  <a:srgbClr val="8B96B3"/>
                </a:solidFill>
                <a:latin typeface="Consolas"/>
              </a:rPr>
              <a:t>8 Implementar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436752" y="5943600"/>
            <a:ext cx="1114856" cy="457200"/>
          </a:xfrm>
          <a:prstGeom prst="roundRect">
            <a:avLst>
              <a:gd name="adj" fmla="val 50000"/>
            </a:avLst>
          </a:prstGeom>
          <a:solidFill>
            <a:srgbClr val="121A2B"/>
          </a:solidFill>
          <a:ln w="15875">
            <a:solidFill>
              <a:srgbClr val="26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/>
          <a:lstStyle/>
          <a:p>
            <a:pPr algn="ctr"/>
            <a:r>
              <a:rPr sz="900" b="0">
                <a:solidFill>
                  <a:srgbClr val="8B96B3"/>
                </a:solidFill>
                <a:latin typeface="Consolas"/>
              </a:rPr>
              <a:t>9 Converger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8A3D"/>
                </a:solidFill>
                <a:latin typeface="Consolas"/>
              </a:rPr>
              <a:t>ETAPA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ECF4"/>
                </a:solidFill>
                <a:latin typeface="Arial Black"/>
              </a:rPr>
              <a:t>Implementar: aquí es donde</a:t>
            </a:r>
          </a:p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ECF4"/>
                </a:solidFill>
                <a:latin typeface="Arial Black"/>
              </a:rPr>
              <a:t>las suposiciones se rompen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606040"/>
            <a:ext cx="10881360" cy="12700"/>
          </a:xfrm>
          <a:prstGeom prst="rect">
            <a:avLst/>
          </a:prstGeom>
          <a:solidFill>
            <a:srgbClr val="263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715768"/>
            <a:ext cx="1463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5470"/>
                </a:solidFill>
                <a:latin typeface="Consolas"/>
              </a:rPr>
              <a:t>SILENCIOSO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2715768"/>
            <a:ext cx="9052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8B96B3"/>
                </a:solidFill>
                <a:latin typeface="Calibri"/>
              </a:rPr>
              <a:t>Un bug de serialización ocultaba TODO mensaje de error de validación desde el primer commit — invisible mientras solo se revisaba el código de estado HTTP.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520440"/>
            <a:ext cx="10881360" cy="12700"/>
          </a:xfrm>
          <a:prstGeom prst="rect">
            <a:avLst/>
          </a:prstGeom>
          <a:solidFill>
            <a:srgbClr val="263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630168"/>
            <a:ext cx="1463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5470"/>
                </a:solidFill>
                <a:latin typeface="Consolas"/>
              </a:rPr>
              <a:t>CONCURRENCIA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3630168"/>
            <a:ext cx="9052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8B96B3"/>
                </a:solidFill>
                <a:latin typeface="Calibri"/>
              </a:rPr>
              <a:t>Una condición de carrera real entre dos despachos simultáneos a la misma unidad, resuelta con una actualización atómica en base de datos.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434840"/>
            <a:ext cx="10881360" cy="12700"/>
          </a:xfrm>
          <a:prstGeom prst="rect">
            <a:avLst/>
          </a:prstGeom>
          <a:solidFill>
            <a:srgbClr val="263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544568"/>
            <a:ext cx="1463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5470"/>
                </a:solidFill>
                <a:latin typeface="Consolas"/>
              </a:rPr>
              <a:t>ARRANQUE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4544568"/>
            <a:ext cx="9052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8B96B3"/>
                </a:solidFill>
                <a:latin typeface="Calibri"/>
              </a:rPr>
              <a:t>Un nombre de endpoint duplicado tumbaba el arranque completo del backend.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943600"/>
            <a:ext cx="1114856" cy="457200"/>
          </a:xfrm>
          <a:prstGeom prst="roundRect">
            <a:avLst>
              <a:gd name="adj" fmla="val 50000"/>
            </a:avLst>
          </a:prstGeom>
          <a:solidFill>
            <a:srgbClr val="121A2B"/>
          </a:solidFill>
          <a:ln w="15875">
            <a:solidFill>
              <a:srgbClr val="26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/>
          <a:lstStyle/>
          <a:p>
            <a:pPr algn="ctr"/>
            <a:r>
              <a:rPr sz="900" b="0">
                <a:solidFill>
                  <a:srgbClr val="8B96B3"/>
                </a:solidFill>
                <a:latin typeface="Consolas"/>
              </a:rPr>
              <a:t>1 Constitución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864664" y="5943600"/>
            <a:ext cx="1114856" cy="457200"/>
          </a:xfrm>
          <a:prstGeom prst="roundRect">
            <a:avLst>
              <a:gd name="adj" fmla="val 50000"/>
            </a:avLst>
          </a:prstGeom>
          <a:solidFill>
            <a:srgbClr val="121A2B"/>
          </a:solidFill>
          <a:ln w="15875">
            <a:solidFill>
              <a:srgbClr val="26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/>
          <a:lstStyle/>
          <a:p>
            <a:pPr algn="ctr"/>
            <a:r>
              <a:rPr sz="900" b="0">
                <a:solidFill>
                  <a:srgbClr val="8B96B3"/>
                </a:solidFill>
                <a:latin typeface="Consolas"/>
              </a:rPr>
              <a:t>2 Especificar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89248" y="5943600"/>
            <a:ext cx="1114856" cy="457200"/>
          </a:xfrm>
          <a:prstGeom prst="roundRect">
            <a:avLst>
              <a:gd name="adj" fmla="val 50000"/>
            </a:avLst>
          </a:prstGeom>
          <a:solidFill>
            <a:srgbClr val="121A2B"/>
          </a:solidFill>
          <a:ln w="15875">
            <a:solidFill>
              <a:srgbClr val="26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/>
          <a:lstStyle/>
          <a:p>
            <a:pPr algn="ctr"/>
            <a:r>
              <a:rPr sz="900" b="0">
                <a:solidFill>
                  <a:srgbClr val="8B96B3"/>
                </a:solidFill>
                <a:latin typeface="Consolas"/>
              </a:rPr>
              <a:t>3 Aclarar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13832" y="5943600"/>
            <a:ext cx="1114856" cy="457200"/>
          </a:xfrm>
          <a:prstGeom prst="roundRect">
            <a:avLst>
              <a:gd name="adj" fmla="val 50000"/>
            </a:avLst>
          </a:prstGeom>
          <a:solidFill>
            <a:srgbClr val="121A2B"/>
          </a:solidFill>
          <a:ln w="15875">
            <a:solidFill>
              <a:srgbClr val="26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/>
          <a:lstStyle/>
          <a:p>
            <a:pPr algn="ctr"/>
            <a:r>
              <a:rPr sz="900" b="0">
                <a:solidFill>
                  <a:srgbClr val="8B96B3"/>
                </a:solidFill>
                <a:latin typeface="Consolas"/>
              </a:rPr>
              <a:t>4 Planear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538416" y="5943600"/>
            <a:ext cx="1114856" cy="457200"/>
          </a:xfrm>
          <a:prstGeom prst="roundRect">
            <a:avLst>
              <a:gd name="adj" fmla="val 50000"/>
            </a:avLst>
          </a:prstGeom>
          <a:solidFill>
            <a:srgbClr val="121A2B"/>
          </a:solidFill>
          <a:ln w="15875">
            <a:solidFill>
              <a:srgbClr val="26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/>
          <a:lstStyle/>
          <a:p>
            <a:pPr algn="ctr"/>
            <a:r>
              <a:rPr sz="900" b="0">
                <a:solidFill>
                  <a:srgbClr val="8B96B3"/>
                </a:solidFill>
                <a:latin typeface="Consolas"/>
              </a:rPr>
              <a:t>5 Checklist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63000" y="5943600"/>
            <a:ext cx="1114856" cy="457200"/>
          </a:xfrm>
          <a:prstGeom prst="roundRect">
            <a:avLst>
              <a:gd name="adj" fmla="val 50000"/>
            </a:avLst>
          </a:prstGeom>
          <a:solidFill>
            <a:srgbClr val="121A2B"/>
          </a:solidFill>
          <a:ln w="15875">
            <a:solidFill>
              <a:srgbClr val="26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/>
          <a:lstStyle/>
          <a:p>
            <a:pPr algn="ctr"/>
            <a:r>
              <a:rPr sz="900" b="0">
                <a:solidFill>
                  <a:srgbClr val="8B96B3"/>
                </a:solidFill>
                <a:latin typeface="Consolas"/>
              </a:rPr>
              <a:t>6 Tareas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87584" y="5943600"/>
            <a:ext cx="1114856" cy="457200"/>
          </a:xfrm>
          <a:prstGeom prst="roundRect">
            <a:avLst>
              <a:gd name="adj" fmla="val 50000"/>
            </a:avLst>
          </a:prstGeom>
          <a:solidFill>
            <a:srgbClr val="121A2B"/>
          </a:solidFill>
          <a:ln w="15875">
            <a:solidFill>
              <a:srgbClr val="26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/>
          <a:lstStyle/>
          <a:p>
            <a:pPr algn="ctr"/>
            <a:r>
              <a:rPr sz="900" b="0">
                <a:solidFill>
                  <a:srgbClr val="8B96B3"/>
                </a:solidFill>
                <a:latin typeface="Consolas"/>
              </a:rPr>
              <a:t>7 Analizar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12168" y="5943600"/>
            <a:ext cx="1114856" cy="457200"/>
          </a:xfrm>
          <a:prstGeom prst="roundRect">
            <a:avLst>
              <a:gd name="adj" fmla="val 50000"/>
            </a:avLst>
          </a:prstGeom>
          <a:solidFill>
            <a:srgbClr val="121A2B"/>
          </a:solidFill>
          <a:ln w="15875">
            <a:solidFill>
              <a:srgbClr val="FF8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/>
          <a:lstStyle/>
          <a:p>
            <a:pPr algn="ctr"/>
            <a:r>
              <a:rPr sz="900" b="1">
                <a:solidFill>
                  <a:srgbClr val="FF8A3D"/>
                </a:solidFill>
                <a:latin typeface="Consolas"/>
              </a:rPr>
              <a:t>8 Implementar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436752" y="5943600"/>
            <a:ext cx="1114856" cy="457200"/>
          </a:xfrm>
          <a:prstGeom prst="roundRect">
            <a:avLst>
              <a:gd name="adj" fmla="val 50000"/>
            </a:avLst>
          </a:prstGeom>
          <a:solidFill>
            <a:srgbClr val="121A2B"/>
          </a:solidFill>
          <a:ln w="15875">
            <a:solidFill>
              <a:srgbClr val="26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/>
          <a:lstStyle/>
          <a:p>
            <a:pPr algn="ctr"/>
            <a:r>
              <a:rPr sz="900" b="0">
                <a:solidFill>
                  <a:srgbClr val="8B96B3"/>
                </a:solidFill>
                <a:latin typeface="Consolas"/>
              </a:rPr>
              <a:t>9 Converger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8A3D"/>
                </a:solidFill>
                <a:latin typeface="Consolas"/>
              </a:rPr>
              <a:t>ETAPA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ECF4"/>
                </a:solidFill>
                <a:latin typeface="Arial Black"/>
              </a:rPr>
              <a:t>Converger: ¿de verdad ya</a:t>
            </a:r>
          </a:p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ECF4"/>
                </a:solidFill>
                <a:latin typeface="Arial Black"/>
              </a:rPr>
              <a:t>quedó completo?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46888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8B96B3"/>
                </a:solidFill>
                <a:latin typeface="Calibri"/>
              </a:rPr>
              <a:t>Compara el código real contra la especificación — sin confiar en las casillas ya marcadas.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06324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2A141A"/>
          </a:solidFill>
          <a:ln w="15875">
            <a:solidFill>
              <a:srgbClr val="FF5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tIns="109728"/>
          <a:lstStyle/>
          <a:p>
            <a:pPr algn="ctr"/>
            <a:r>
              <a:rPr sz="1100" b="1">
                <a:solidFill>
                  <a:srgbClr val="FF5470"/>
                </a:solidFill>
                <a:latin typeface="Consolas"/>
              </a:rPr>
              <a:t>MVP · CRÍTICO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E8ECF4"/>
                </a:solidFill>
                <a:latin typeface="Calibri"/>
              </a:rPr>
              <a:t>4 endpoints de lectura no exigían token — cualquiera podía ver todas las emergencias sin iniciar sesión.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11480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2A141A"/>
          </a:solidFill>
          <a:ln w="15875">
            <a:solidFill>
              <a:srgbClr val="FF5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tIns="109728"/>
          <a:lstStyle/>
          <a:p>
            <a:pPr algn="ctr"/>
            <a:r>
              <a:rPr sz="1100" b="1">
                <a:solidFill>
                  <a:srgbClr val="FF5470"/>
                </a:solidFill>
                <a:latin typeface="Consolas"/>
              </a:rPr>
              <a:t>AMPLIACIÓN · CRÍTICO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E8ECF4"/>
                </a:solidFill>
                <a:latin typeface="Calibri"/>
              </a:rPr>
              <a:t>El mismo patrón se repitió: un rol de solo lectura podía ver datos de personal restringidos.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25780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B96B3"/>
                </a:solidFill>
                <a:latin typeface="Consolas"/>
              </a:rPr>
              <a:t>Las dos veces, el proceso lo atrapó antes de la entrega — no la suerte.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5943600"/>
            <a:ext cx="1114856" cy="457200"/>
          </a:xfrm>
          <a:prstGeom prst="roundRect">
            <a:avLst>
              <a:gd name="adj" fmla="val 50000"/>
            </a:avLst>
          </a:prstGeom>
          <a:solidFill>
            <a:srgbClr val="121A2B"/>
          </a:solidFill>
          <a:ln w="15875">
            <a:solidFill>
              <a:srgbClr val="26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/>
          <a:lstStyle/>
          <a:p>
            <a:pPr algn="ctr"/>
            <a:r>
              <a:rPr sz="900" b="0">
                <a:solidFill>
                  <a:srgbClr val="8B96B3"/>
                </a:solidFill>
                <a:latin typeface="Consolas"/>
              </a:rPr>
              <a:t>1 Constitución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64664" y="5943600"/>
            <a:ext cx="1114856" cy="457200"/>
          </a:xfrm>
          <a:prstGeom prst="roundRect">
            <a:avLst>
              <a:gd name="adj" fmla="val 50000"/>
            </a:avLst>
          </a:prstGeom>
          <a:solidFill>
            <a:srgbClr val="121A2B"/>
          </a:solidFill>
          <a:ln w="15875">
            <a:solidFill>
              <a:srgbClr val="26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/>
          <a:lstStyle/>
          <a:p>
            <a:pPr algn="ctr"/>
            <a:r>
              <a:rPr sz="900" b="0">
                <a:solidFill>
                  <a:srgbClr val="8B96B3"/>
                </a:solidFill>
                <a:latin typeface="Consolas"/>
              </a:rPr>
              <a:t>2 Especificar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89248" y="5943600"/>
            <a:ext cx="1114856" cy="457200"/>
          </a:xfrm>
          <a:prstGeom prst="roundRect">
            <a:avLst>
              <a:gd name="adj" fmla="val 50000"/>
            </a:avLst>
          </a:prstGeom>
          <a:solidFill>
            <a:srgbClr val="121A2B"/>
          </a:solidFill>
          <a:ln w="15875">
            <a:solidFill>
              <a:srgbClr val="26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/>
          <a:lstStyle/>
          <a:p>
            <a:pPr algn="ctr"/>
            <a:r>
              <a:rPr sz="900" b="0">
                <a:solidFill>
                  <a:srgbClr val="8B96B3"/>
                </a:solidFill>
                <a:latin typeface="Consolas"/>
              </a:rPr>
              <a:t>3 Aclarar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3832" y="5943600"/>
            <a:ext cx="1114856" cy="457200"/>
          </a:xfrm>
          <a:prstGeom prst="roundRect">
            <a:avLst>
              <a:gd name="adj" fmla="val 50000"/>
            </a:avLst>
          </a:prstGeom>
          <a:solidFill>
            <a:srgbClr val="121A2B"/>
          </a:solidFill>
          <a:ln w="15875">
            <a:solidFill>
              <a:srgbClr val="26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/>
          <a:lstStyle/>
          <a:p>
            <a:pPr algn="ctr"/>
            <a:r>
              <a:rPr sz="900" b="0">
                <a:solidFill>
                  <a:srgbClr val="8B96B3"/>
                </a:solidFill>
                <a:latin typeface="Consolas"/>
              </a:rPr>
              <a:t>4 Planear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538416" y="5943600"/>
            <a:ext cx="1114856" cy="457200"/>
          </a:xfrm>
          <a:prstGeom prst="roundRect">
            <a:avLst>
              <a:gd name="adj" fmla="val 50000"/>
            </a:avLst>
          </a:prstGeom>
          <a:solidFill>
            <a:srgbClr val="121A2B"/>
          </a:solidFill>
          <a:ln w="15875">
            <a:solidFill>
              <a:srgbClr val="26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/>
          <a:lstStyle/>
          <a:p>
            <a:pPr algn="ctr"/>
            <a:r>
              <a:rPr sz="900" b="0">
                <a:solidFill>
                  <a:srgbClr val="8B96B3"/>
                </a:solidFill>
                <a:latin typeface="Consolas"/>
              </a:rPr>
              <a:t>5 Checklist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63000" y="5943600"/>
            <a:ext cx="1114856" cy="457200"/>
          </a:xfrm>
          <a:prstGeom prst="roundRect">
            <a:avLst>
              <a:gd name="adj" fmla="val 50000"/>
            </a:avLst>
          </a:prstGeom>
          <a:solidFill>
            <a:srgbClr val="121A2B"/>
          </a:solidFill>
          <a:ln w="15875">
            <a:solidFill>
              <a:srgbClr val="26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/>
          <a:lstStyle/>
          <a:p>
            <a:pPr algn="ctr"/>
            <a:r>
              <a:rPr sz="900" b="0">
                <a:solidFill>
                  <a:srgbClr val="8B96B3"/>
                </a:solidFill>
                <a:latin typeface="Consolas"/>
              </a:rPr>
              <a:t>6 Tareas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87584" y="5943600"/>
            <a:ext cx="1114856" cy="457200"/>
          </a:xfrm>
          <a:prstGeom prst="roundRect">
            <a:avLst>
              <a:gd name="adj" fmla="val 50000"/>
            </a:avLst>
          </a:prstGeom>
          <a:solidFill>
            <a:srgbClr val="121A2B"/>
          </a:solidFill>
          <a:ln w="15875">
            <a:solidFill>
              <a:srgbClr val="26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/>
          <a:lstStyle/>
          <a:p>
            <a:pPr algn="ctr"/>
            <a:r>
              <a:rPr sz="900" b="0">
                <a:solidFill>
                  <a:srgbClr val="8B96B3"/>
                </a:solidFill>
                <a:latin typeface="Consolas"/>
              </a:rPr>
              <a:t>7 Analizar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12168" y="5943600"/>
            <a:ext cx="1114856" cy="457200"/>
          </a:xfrm>
          <a:prstGeom prst="roundRect">
            <a:avLst>
              <a:gd name="adj" fmla="val 50000"/>
            </a:avLst>
          </a:prstGeom>
          <a:solidFill>
            <a:srgbClr val="121A2B"/>
          </a:solidFill>
          <a:ln w="15875">
            <a:solidFill>
              <a:srgbClr val="26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/>
          <a:lstStyle/>
          <a:p>
            <a:pPr algn="ctr"/>
            <a:r>
              <a:rPr sz="900" b="0">
                <a:solidFill>
                  <a:srgbClr val="8B96B3"/>
                </a:solidFill>
                <a:latin typeface="Consolas"/>
              </a:rPr>
              <a:t>8 Implementar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436752" y="5943600"/>
            <a:ext cx="1114856" cy="457200"/>
          </a:xfrm>
          <a:prstGeom prst="roundRect">
            <a:avLst>
              <a:gd name="adj" fmla="val 50000"/>
            </a:avLst>
          </a:prstGeom>
          <a:solidFill>
            <a:srgbClr val="121A2B"/>
          </a:solidFill>
          <a:ln w="15875">
            <a:solidFill>
              <a:srgbClr val="FF8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/>
          <a:lstStyle/>
          <a:p>
            <a:pPr algn="ctr"/>
            <a:r>
              <a:rPr sz="900" b="1">
                <a:solidFill>
                  <a:srgbClr val="FF8A3D"/>
                </a:solidFill>
                <a:latin typeface="Consolas"/>
              </a:rPr>
              <a:t>9 Converger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8A3D"/>
                </a:solidFill>
                <a:latin typeface="Consolas"/>
              </a:rPr>
              <a:t>SEGUNDA VUELTA DEL MISMO PROCESO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7899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ECF4"/>
                </a:solidFill>
                <a:latin typeface="Arial Black"/>
              </a:rPr>
              <a:t>Escalar a cobertura nacional sin</a:t>
            </a:r>
          </a:p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ECF4"/>
                </a:solidFill>
                <a:latin typeface="Arial Black"/>
              </a:rPr>
              <a:t>romper lo que ya funcionaba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514600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8B96B3"/>
                </a:solidFill>
                <a:latin typeface="Calibri"/>
              </a:rPr>
              <a:t>Las mismas 9 etapas, aplicadas completas una segunda vez, sobre una base de código que ya estaba en producción de curso.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429000"/>
            <a:ext cx="3429000" cy="1828800"/>
          </a:xfrm>
          <a:prstGeom prst="roundRect">
            <a:avLst>
              <a:gd name="adj" fmla="val 6000"/>
            </a:avLst>
          </a:prstGeom>
          <a:solidFill>
            <a:srgbClr val="121A2B"/>
          </a:solidFill>
          <a:ln w="12700">
            <a:solidFill>
              <a:srgbClr val="26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46304" bIns="146304"/>
          <a:lstStyle/>
          <a:p>
            <a:pPr algn="ctr"/>
            <a:r>
              <a:rPr sz="1600" b="1">
                <a:solidFill>
                  <a:srgbClr val="E8ECF4"/>
                </a:solidFill>
                <a:latin typeface="Calibri"/>
              </a:rPr>
              <a:t>Catálogo nacional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sz="1300">
                <a:solidFill>
                  <a:srgbClr val="8B96B3"/>
                </a:solidFill>
                <a:latin typeface="Calibri"/>
              </a:rPr>
              <a:t>Tipos de emergencia terrestres, marítimos y aéreos, administrables.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3429000"/>
            <a:ext cx="3429000" cy="1828800"/>
          </a:xfrm>
          <a:prstGeom prst="roundRect">
            <a:avLst>
              <a:gd name="adj" fmla="val 6000"/>
            </a:avLst>
          </a:prstGeom>
          <a:solidFill>
            <a:srgbClr val="121A2B"/>
          </a:solidFill>
          <a:ln w="12700">
            <a:solidFill>
              <a:srgbClr val="26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46304" bIns="146304"/>
          <a:lstStyle/>
          <a:p>
            <a:pPr algn="ctr"/>
            <a:r>
              <a:rPr sz="1600" b="1">
                <a:solidFill>
                  <a:srgbClr val="E8ECF4"/>
                </a:solidFill>
                <a:latin typeface="Calibri"/>
              </a:rPr>
              <a:t>7 roles en total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sz="1300">
                <a:solidFill>
                  <a:srgbClr val="8B96B3"/>
                </a:solidFill>
                <a:latin typeface="Calibri"/>
              </a:rPr>
              <a:t>De 2 roles en el MVP a un esquema completo de administración de usuarios.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3429000"/>
            <a:ext cx="3429000" cy="1828800"/>
          </a:xfrm>
          <a:prstGeom prst="roundRect">
            <a:avLst>
              <a:gd name="adj" fmla="val 6000"/>
            </a:avLst>
          </a:prstGeom>
          <a:solidFill>
            <a:srgbClr val="121A2B"/>
          </a:solidFill>
          <a:ln w="12700">
            <a:solidFill>
              <a:srgbClr val="26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46304" bIns="146304"/>
          <a:lstStyle/>
          <a:p>
            <a:pPr algn="ctr"/>
            <a:r>
              <a:rPr sz="1600" b="1">
                <a:solidFill>
                  <a:srgbClr val="E8ECF4"/>
                </a:solidFill>
                <a:latin typeface="Calibri"/>
              </a:rPr>
              <a:t>Vista pública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sz="1300">
                <a:solidFill>
                  <a:srgbClr val="8B96B3"/>
                </a:solidFill>
                <a:latin typeface="Calibri"/>
              </a:rPr>
              <a:t>Mapa sin login, con datos sensibles redactados y ubicación aproximada.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8A3D"/>
                </a:solidFill>
                <a:latin typeface="Consolas"/>
              </a:rPr>
              <a:t>RESULTADO FINAL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96012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E8ECF4"/>
                </a:solidFill>
                <a:latin typeface="Arial Black"/>
              </a:rPr>
              <a:t>Dos features, un mismo proceso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03120"/>
            <a:ext cx="3429000" cy="1508760"/>
          </a:xfrm>
          <a:prstGeom prst="roundRect">
            <a:avLst>
              <a:gd name="adj" fmla="val 8000"/>
            </a:avLst>
          </a:prstGeom>
          <a:solidFill>
            <a:srgbClr val="121A2B"/>
          </a:solidFill>
          <a:ln w="12700">
            <a:solidFill>
              <a:srgbClr val="26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28016"/>
          <a:lstStyle/>
          <a:p>
            <a:pPr algn="ctr"/>
            <a:r>
              <a:rPr sz="3600" b="1">
                <a:solidFill>
                  <a:srgbClr val="FF8A3D"/>
                </a:solidFill>
                <a:latin typeface="Arial Black"/>
              </a:rPr>
              <a:t>2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200">
                <a:solidFill>
                  <a:srgbClr val="8B96B3"/>
                </a:solidFill>
                <a:latin typeface="Calibri"/>
              </a:rPr>
              <a:t>features completas: MVP + Ampliación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2103120"/>
            <a:ext cx="3429000" cy="1508760"/>
          </a:xfrm>
          <a:prstGeom prst="roundRect">
            <a:avLst>
              <a:gd name="adj" fmla="val 8000"/>
            </a:avLst>
          </a:prstGeom>
          <a:solidFill>
            <a:srgbClr val="121A2B"/>
          </a:solidFill>
          <a:ln w="12700">
            <a:solidFill>
              <a:srgbClr val="26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28016"/>
          <a:lstStyle/>
          <a:p>
            <a:pPr algn="ctr"/>
            <a:r>
              <a:rPr sz="3600" b="1">
                <a:solidFill>
                  <a:srgbClr val="FF8A3D"/>
                </a:solidFill>
                <a:latin typeface="Arial Black"/>
              </a:rPr>
              <a:t>15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200">
                <a:solidFill>
                  <a:srgbClr val="8B96B3"/>
                </a:solidFill>
                <a:latin typeface="Calibri"/>
              </a:rPr>
              <a:t>historias de usuario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2103120"/>
            <a:ext cx="3429000" cy="1508760"/>
          </a:xfrm>
          <a:prstGeom prst="roundRect">
            <a:avLst>
              <a:gd name="adj" fmla="val 8000"/>
            </a:avLst>
          </a:prstGeom>
          <a:solidFill>
            <a:srgbClr val="121A2B"/>
          </a:solidFill>
          <a:ln w="12700">
            <a:solidFill>
              <a:srgbClr val="26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28016"/>
          <a:lstStyle/>
          <a:p>
            <a:pPr algn="ctr"/>
            <a:r>
              <a:rPr sz="3600" b="1">
                <a:solidFill>
                  <a:srgbClr val="FF8A3D"/>
                </a:solidFill>
                <a:latin typeface="Arial Black"/>
              </a:rPr>
              <a:t>56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200">
                <a:solidFill>
                  <a:srgbClr val="8B96B3"/>
                </a:solidFill>
                <a:latin typeface="Calibri"/>
              </a:rPr>
              <a:t>requisitos funcionales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840480"/>
            <a:ext cx="3429000" cy="1508760"/>
          </a:xfrm>
          <a:prstGeom prst="roundRect">
            <a:avLst>
              <a:gd name="adj" fmla="val 8000"/>
            </a:avLst>
          </a:prstGeom>
          <a:solidFill>
            <a:srgbClr val="121A2B"/>
          </a:solidFill>
          <a:ln w="12700">
            <a:solidFill>
              <a:srgbClr val="26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28016"/>
          <a:lstStyle/>
          <a:p>
            <a:pPr algn="ctr"/>
            <a:r>
              <a:rPr sz="3600" b="1">
                <a:solidFill>
                  <a:srgbClr val="FF8A3D"/>
                </a:solidFill>
                <a:latin typeface="Arial Black"/>
              </a:rPr>
              <a:t>50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200">
                <a:solidFill>
                  <a:srgbClr val="8B96B3"/>
                </a:solidFill>
                <a:latin typeface="Calibri"/>
              </a:rPr>
              <a:t>pruebas automatizadas en verde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3840480"/>
            <a:ext cx="3429000" cy="1508760"/>
          </a:xfrm>
          <a:prstGeom prst="roundRect">
            <a:avLst>
              <a:gd name="adj" fmla="val 8000"/>
            </a:avLst>
          </a:prstGeom>
          <a:solidFill>
            <a:srgbClr val="121A2B"/>
          </a:solidFill>
          <a:ln w="12700">
            <a:solidFill>
              <a:srgbClr val="26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28016"/>
          <a:lstStyle/>
          <a:p>
            <a:pPr algn="ctr"/>
            <a:r>
              <a:rPr sz="3600" b="1">
                <a:solidFill>
                  <a:srgbClr val="FF8A3D"/>
                </a:solidFill>
                <a:latin typeface="Arial Black"/>
              </a:rPr>
              <a:t>39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200">
                <a:solidFill>
                  <a:srgbClr val="8B96B3"/>
                </a:solidFill>
                <a:latin typeface="Calibri"/>
              </a:rPr>
              <a:t>commits, cada uno trazable a una etapa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3840480"/>
            <a:ext cx="3429000" cy="1508760"/>
          </a:xfrm>
          <a:prstGeom prst="roundRect">
            <a:avLst>
              <a:gd name="adj" fmla="val 8000"/>
            </a:avLst>
          </a:prstGeom>
          <a:solidFill>
            <a:srgbClr val="121A2B"/>
          </a:solidFill>
          <a:ln w="12700">
            <a:solidFill>
              <a:srgbClr val="26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28016"/>
          <a:lstStyle/>
          <a:p>
            <a:pPr algn="ctr"/>
            <a:r>
              <a:rPr sz="3600" b="1">
                <a:solidFill>
                  <a:srgbClr val="FF8A3D"/>
                </a:solidFill>
                <a:latin typeface="Arial Black"/>
              </a:rPr>
              <a:t>3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200">
                <a:solidFill>
                  <a:srgbClr val="8B96B3"/>
                </a:solidFill>
                <a:latin typeface="Calibri"/>
              </a:rPr>
              <a:t>vulnerabilidades reales encontradas y cerradas antes de la demo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8A3D"/>
                </a:solidFill>
                <a:latin typeface="Consolas"/>
              </a:rPr>
              <a:t>POR QUÉ IMPORTA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7899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8ECF4"/>
                </a:solidFill>
                <a:latin typeface="Arial Black"/>
              </a:rPr>
              <a:t>El código es el resultado, no el objetivo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3429000" cy="2194560"/>
          </a:xfrm>
          <a:prstGeom prst="roundRect">
            <a:avLst>
              <a:gd name="adj" fmla="val 6000"/>
            </a:avLst>
          </a:prstGeom>
          <a:solidFill>
            <a:srgbClr val="121A2B"/>
          </a:solidFill>
          <a:ln w="12700">
            <a:solidFill>
              <a:srgbClr val="26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46304" bIns="146304"/>
          <a:lstStyle/>
          <a:p>
            <a:pPr algn="ctr"/>
            <a:r>
              <a:rPr sz="1600" b="1">
                <a:solidFill>
                  <a:srgbClr val="E8ECF4"/>
                </a:solidFill>
                <a:latin typeface="Calibri"/>
              </a:rPr>
              <a:t>Decisiones escritas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sz="1300">
                <a:solidFill>
                  <a:srgbClr val="8B96B3"/>
                </a:solidFill>
                <a:latin typeface="Calibri"/>
              </a:rPr>
              <a:t>Cada decisión de negocio queda documentada — no en la memoria de una sola persona.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2834640"/>
            <a:ext cx="3429000" cy="2194560"/>
          </a:xfrm>
          <a:prstGeom prst="roundRect">
            <a:avLst>
              <a:gd name="adj" fmla="val 6000"/>
            </a:avLst>
          </a:prstGeom>
          <a:solidFill>
            <a:srgbClr val="121A2B"/>
          </a:solidFill>
          <a:ln w="12700">
            <a:solidFill>
              <a:srgbClr val="26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46304" bIns="146304"/>
          <a:lstStyle/>
          <a:p>
            <a:pPr algn="ctr"/>
            <a:r>
              <a:rPr sz="1600" b="1">
                <a:solidFill>
                  <a:srgbClr val="E8ECF4"/>
                </a:solidFill>
                <a:latin typeface="Calibri"/>
              </a:rPr>
              <a:t>Errores por etapas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sz="1300">
                <a:solidFill>
                  <a:srgbClr val="8B96B3"/>
                </a:solidFill>
                <a:latin typeface="Calibri"/>
              </a:rPr>
              <a:t>Se atrapan en puertas de calidad definidas, no en una revisión manual de último minuto.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2834640"/>
            <a:ext cx="3429000" cy="2194560"/>
          </a:xfrm>
          <a:prstGeom prst="roundRect">
            <a:avLst>
              <a:gd name="adj" fmla="val 6000"/>
            </a:avLst>
          </a:prstGeom>
          <a:solidFill>
            <a:srgbClr val="121A2B"/>
          </a:solidFill>
          <a:ln w="12700">
            <a:solidFill>
              <a:srgbClr val="26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46304" bIns="146304"/>
          <a:lstStyle/>
          <a:p>
            <a:pPr algn="ctr"/>
            <a:r>
              <a:rPr sz="1600" b="1">
                <a:solidFill>
                  <a:srgbClr val="E8ECF4"/>
                </a:solidFill>
                <a:latin typeface="Calibri"/>
              </a:rPr>
              <a:t>IA sin perder el control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sz="1300">
                <a:solidFill>
                  <a:srgbClr val="8B96B3"/>
                </a:solidFill>
                <a:latin typeface="Calibri"/>
              </a:rPr>
              <a:t>Cada paso quedó aprobado, documentado y es auditable, del primer commit al último.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914400"/>
            <a:ext cx="1114856" cy="457200"/>
          </a:xfrm>
          <a:prstGeom prst="roundRect">
            <a:avLst>
              <a:gd name="adj" fmla="val 50000"/>
            </a:avLst>
          </a:prstGeom>
          <a:solidFill>
            <a:srgbClr val="121A2B"/>
          </a:solidFill>
          <a:ln w="15875">
            <a:solidFill>
              <a:srgbClr val="3DDC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/>
          <a:lstStyle/>
          <a:p>
            <a:pPr algn="ctr"/>
            <a:r>
              <a:rPr sz="900" b="0">
                <a:solidFill>
                  <a:srgbClr val="3DDC97"/>
                </a:solidFill>
                <a:latin typeface="Consolas"/>
              </a:rPr>
              <a:t>1 Constitución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64664" y="914400"/>
            <a:ext cx="1114856" cy="457200"/>
          </a:xfrm>
          <a:prstGeom prst="roundRect">
            <a:avLst>
              <a:gd name="adj" fmla="val 50000"/>
            </a:avLst>
          </a:prstGeom>
          <a:solidFill>
            <a:srgbClr val="121A2B"/>
          </a:solidFill>
          <a:ln w="15875">
            <a:solidFill>
              <a:srgbClr val="3DDC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/>
          <a:lstStyle/>
          <a:p>
            <a:pPr algn="ctr"/>
            <a:r>
              <a:rPr sz="900" b="0">
                <a:solidFill>
                  <a:srgbClr val="3DDC97"/>
                </a:solidFill>
                <a:latin typeface="Consolas"/>
              </a:rPr>
              <a:t>2 Especificar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89248" y="914400"/>
            <a:ext cx="1114856" cy="457200"/>
          </a:xfrm>
          <a:prstGeom prst="roundRect">
            <a:avLst>
              <a:gd name="adj" fmla="val 50000"/>
            </a:avLst>
          </a:prstGeom>
          <a:solidFill>
            <a:srgbClr val="121A2B"/>
          </a:solidFill>
          <a:ln w="15875">
            <a:solidFill>
              <a:srgbClr val="3DDC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/>
          <a:lstStyle/>
          <a:p>
            <a:pPr algn="ctr"/>
            <a:r>
              <a:rPr sz="900" b="0">
                <a:solidFill>
                  <a:srgbClr val="3DDC97"/>
                </a:solidFill>
                <a:latin typeface="Consolas"/>
              </a:rPr>
              <a:t>3 Aclarar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13832" y="914400"/>
            <a:ext cx="1114856" cy="457200"/>
          </a:xfrm>
          <a:prstGeom prst="roundRect">
            <a:avLst>
              <a:gd name="adj" fmla="val 50000"/>
            </a:avLst>
          </a:prstGeom>
          <a:solidFill>
            <a:srgbClr val="121A2B"/>
          </a:solidFill>
          <a:ln w="15875">
            <a:solidFill>
              <a:srgbClr val="3DDC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/>
          <a:lstStyle/>
          <a:p>
            <a:pPr algn="ctr"/>
            <a:r>
              <a:rPr sz="900" b="0">
                <a:solidFill>
                  <a:srgbClr val="3DDC97"/>
                </a:solidFill>
                <a:latin typeface="Consolas"/>
              </a:rPr>
              <a:t>4 Planear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38416" y="914400"/>
            <a:ext cx="1114856" cy="457200"/>
          </a:xfrm>
          <a:prstGeom prst="roundRect">
            <a:avLst>
              <a:gd name="adj" fmla="val 50000"/>
            </a:avLst>
          </a:prstGeom>
          <a:solidFill>
            <a:srgbClr val="121A2B"/>
          </a:solidFill>
          <a:ln w="15875">
            <a:solidFill>
              <a:srgbClr val="3DDC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/>
          <a:lstStyle/>
          <a:p>
            <a:pPr algn="ctr"/>
            <a:r>
              <a:rPr sz="900" b="0">
                <a:solidFill>
                  <a:srgbClr val="3DDC97"/>
                </a:solidFill>
                <a:latin typeface="Consolas"/>
              </a:rPr>
              <a:t>5 Checklist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3000" y="914400"/>
            <a:ext cx="1114856" cy="457200"/>
          </a:xfrm>
          <a:prstGeom prst="roundRect">
            <a:avLst>
              <a:gd name="adj" fmla="val 50000"/>
            </a:avLst>
          </a:prstGeom>
          <a:solidFill>
            <a:srgbClr val="121A2B"/>
          </a:solidFill>
          <a:ln w="15875">
            <a:solidFill>
              <a:srgbClr val="3DDC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/>
          <a:lstStyle/>
          <a:p>
            <a:pPr algn="ctr"/>
            <a:r>
              <a:rPr sz="900" b="0">
                <a:solidFill>
                  <a:srgbClr val="3DDC97"/>
                </a:solidFill>
                <a:latin typeface="Consolas"/>
              </a:rPr>
              <a:t>6 Tareas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87584" y="914400"/>
            <a:ext cx="1114856" cy="457200"/>
          </a:xfrm>
          <a:prstGeom prst="roundRect">
            <a:avLst>
              <a:gd name="adj" fmla="val 50000"/>
            </a:avLst>
          </a:prstGeom>
          <a:solidFill>
            <a:srgbClr val="121A2B"/>
          </a:solidFill>
          <a:ln w="15875">
            <a:solidFill>
              <a:srgbClr val="3DDC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/>
          <a:lstStyle/>
          <a:p>
            <a:pPr algn="ctr"/>
            <a:r>
              <a:rPr sz="900" b="0">
                <a:solidFill>
                  <a:srgbClr val="3DDC97"/>
                </a:solidFill>
                <a:latin typeface="Consolas"/>
              </a:rPr>
              <a:t>7 Analizar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12168" y="914400"/>
            <a:ext cx="1114856" cy="457200"/>
          </a:xfrm>
          <a:prstGeom prst="roundRect">
            <a:avLst>
              <a:gd name="adj" fmla="val 50000"/>
            </a:avLst>
          </a:prstGeom>
          <a:solidFill>
            <a:srgbClr val="121A2B"/>
          </a:solidFill>
          <a:ln w="15875">
            <a:solidFill>
              <a:srgbClr val="3DDC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/>
          <a:lstStyle/>
          <a:p>
            <a:pPr algn="ctr"/>
            <a:r>
              <a:rPr sz="900" b="0">
                <a:solidFill>
                  <a:srgbClr val="3DDC97"/>
                </a:solidFill>
                <a:latin typeface="Consolas"/>
              </a:rPr>
              <a:t>8 Implementar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36752" y="914400"/>
            <a:ext cx="1114856" cy="457200"/>
          </a:xfrm>
          <a:prstGeom prst="roundRect">
            <a:avLst>
              <a:gd name="adj" fmla="val 50000"/>
            </a:avLst>
          </a:prstGeom>
          <a:solidFill>
            <a:srgbClr val="121A2B"/>
          </a:solidFill>
          <a:ln w="15875">
            <a:solidFill>
              <a:srgbClr val="3DDC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/>
          <a:lstStyle/>
          <a:p>
            <a:pPr algn="ctr"/>
            <a:r>
              <a:rPr sz="900" b="0">
                <a:solidFill>
                  <a:srgbClr val="3DDC97"/>
                </a:solidFill>
                <a:latin typeface="Consolas"/>
              </a:rPr>
              <a:t>9 Converger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194560"/>
            <a:ext cx="1088136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0" b="1">
                <a:solidFill>
                  <a:srgbClr val="E8ECF4"/>
                </a:solidFill>
                <a:latin typeface="Arial Black"/>
              </a:rPr>
              <a:t>SIGE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566160"/>
            <a:ext cx="914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8B96B3"/>
                </a:solidFill>
                <a:latin typeface="Calibri"/>
              </a:rPr>
              <a:t>Construido con Spec-Driven Development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20624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8B96B3"/>
                </a:solidFill>
                <a:latin typeface="Consolas"/>
              </a:rPr>
              <a:t>Preguntas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